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261" r:id="rId3"/>
    <p:sldId id="263" r:id="rId4"/>
    <p:sldId id="264" r:id="rId5"/>
    <p:sldId id="269" r:id="rId6"/>
    <p:sldId id="271" r:id="rId7"/>
    <p:sldId id="265" r:id="rId8"/>
    <p:sldId id="266" r:id="rId9"/>
    <p:sldId id="267" r:id="rId10"/>
    <p:sldId id="259" r:id="rId11"/>
    <p:sldId id="268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8104A-173E-4031-9F41-14C051C6B212}" type="datetimeFigureOut">
              <a:rPr lang="en-US" smtClean="0"/>
              <a:pPr/>
              <a:t>8/10/2023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8F841-4E84-492A-997A-6825A38F85C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56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3a01d0a8c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3a01d0a8c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2400" y="152400"/>
            <a:ext cx="6629400" cy="365125"/>
          </a:xfrm>
        </p:spPr>
        <p:txBody>
          <a:bodyPr/>
          <a:lstStyle>
            <a:lvl1pPr>
              <a:defRPr sz="1600"/>
            </a:lvl1pPr>
          </a:lstStyle>
          <a:p>
            <a:r>
              <a:rPr lang="en-US" dirty="0"/>
              <a:t>MAULANA  ABUL KALAM AZAD UNIVERSITY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34200" y="152400"/>
            <a:ext cx="2057400" cy="365125"/>
          </a:xfrm>
        </p:spPr>
        <p:txBody>
          <a:bodyPr/>
          <a:lstStyle>
            <a:lvl1pPr algn="ctr">
              <a:defRPr sz="1800"/>
            </a:lvl1pPr>
          </a:lstStyle>
          <a:p>
            <a:r>
              <a:rPr lang="en-US" dirty="0"/>
              <a:t>CA-1: BCAD501B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On</a:t>
            </a:r>
            <a:br>
              <a:rPr lang="en-US" dirty="0"/>
            </a:br>
            <a:r>
              <a:rPr lang="en-US" dirty="0"/>
              <a:t>&lt;TOPIC NAME&gt;</a:t>
            </a:r>
            <a:br>
              <a:rPr lang="en-US" dirty="0"/>
            </a:br>
            <a:r>
              <a:rPr lang="en-US" dirty="0"/>
              <a:t>By</a:t>
            </a:r>
            <a:br>
              <a:rPr lang="en-US" dirty="0"/>
            </a:br>
            <a:r>
              <a:rPr lang="en-US" dirty="0"/>
              <a:t>&lt;STUDENT NAME &gt;</a:t>
            </a:r>
            <a:br>
              <a:rPr lang="en-US" dirty="0"/>
            </a:br>
            <a:r>
              <a:rPr lang="en-US" dirty="0"/>
              <a:t>&lt;UNIV. ROLL NO: 21301221***&gt;</a:t>
            </a:r>
            <a:br>
              <a:rPr lang="en-US" dirty="0"/>
            </a:br>
            <a:r>
              <a:rPr lang="en-US" dirty="0"/>
              <a:t>&lt;29TH JULY, 2022&gt;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152400"/>
            <a:ext cx="2209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THE HERITAGE ACADEMY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38400" y="152400"/>
            <a:ext cx="5029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MAULANA ABUL KALAM AZAD UNIVERSITY OF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15240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 dirty="0"/>
              <a:t>CA-1: BCAD 501B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3600" b="1" kern="1200" baseline="0">
          <a:solidFill>
            <a:schemeClr val="tx1"/>
          </a:solidFill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egg.com/homework-help/definitions/recursive-binary-search-3#:~:text=Recursive%20binary%20search%20is%20an,within%20a%20single%20method%20call" TargetMode="External"/><Relationship Id="rId2" Type="http://schemas.openxmlformats.org/officeDocument/2006/relationships/hyperlink" Target="https://www.techiedelight.com/binary-search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MAULANA  ABUL KALAM AZAD UNIVERSITY OF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05600" y="152400"/>
            <a:ext cx="2286000" cy="381000"/>
          </a:xfrm>
        </p:spPr>
        <p:txBody>
          <a:bodyPr/>
          <a:lstStyle/>
          <a:p>
            <a:r>
              <a:rPr lang="en-US" dirty="0"/>
              <a:t>CA-1: BCAD-501B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85800" y="838200"/>
            <a:ext cx="7772400" cy="1447800"/>
          </a:xfrm>
        </p:spPr>
        <p:txBody>
          <a:bodyPr>
            <a:noAutofit/>
          </a:bodyPr>
          <a:lstStyle/>
          <a:p>
            <a:r>
              <a:rPr lang="en-US" sz="3200" u="sng" dirty="0">
                <a:solidFill>
                  <a:srgbClr val="002060"/>
                </a:solidFill>
              </a:rPr>
              <a:t>RECURSIVE BINARY SEARCH: ALGORITHM, EXAMPLE &amp; TIME COMPLEXITY ANALYSIS</a:t>
            </a: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42900" y="2514600"/>
            <a:ext cx="8458200" cy="4191000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MEENAKSHI SARKAR </a:t>
            </a:r>
            <a:endParaRPr lang="en-US" sz="28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University Roll No – 21301221088</a:t>
            </a:r>
          </a:p>
          <a:p>
            <a:endParaRPr lang="en-US" sz="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THE HERITAGE ACADEMY</a:t>
            </a:r>
          </a:p>
          <a:p>
            <a:endParaRPr lang="en-US" sz="12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sz="12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b="1" baseline="300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AUGUST 2023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3401"/>
            <a:ext cx="7772400" cy="685799"/>
          </a:xfrm>
        </p:spPr>
        <p:txBody>
          <a:bodyPr/>
          <a:lstStyle/>
          <a:p>
            <a: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  <a:t>INTRODUCTION</a:t>
            </a:r>
            <a:endParaRPr lang="en-IN" u="sng" dirty="0">
              <a:solidFill>
                <a:schemeClr val="tx2"/>
              </a:solidFill>
              <a:latin typeface="Copperplate Gothic Bold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371600"/>
            <a:ext cx="8458200" cy="4876800"/>
          </a:xfrm>
        </p:spPr>
        <p:txBody>
          <a:bodyPr/>
          <a:lstStyle/>
          <a:p>
            <a:pPr algn="l"/>
            <a:endParaRPr lang="en-US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Binary Search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the search technique that works efficiently on sorted lists. Hence, to search an element into some list using the binary search technique, we must ensure that the list is sorted.</a:t>
            </a:r>
          </a:p>
          <a:p>
            <a:pPr algn="l"/>
            <a:endParaRPr lang="en-US" sz="2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lang="en-US" sz="2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Recursive Binary Search </a:t>
            </a:r>
            <a:r>
              <a:rPr lang="en-US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is an implementation of the binary search algorithm that uses recursive method calls (instead of iteratively searching for the item within a single method call). </a:t>
            </a: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MAULANA  ABUL KALAM AZAD UNIVERSITY OF TECHNOLOGY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CA-1: BCAD501B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53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685801"/>
            <a:ext cx="8458200" cy="838199"/>
          </a:xfrm>
        </p:spPr>
        <p:txBody>
          <a:bodyPr>
            <a:noAutofit/>
          </a:bodyPr>
          <a:lstStyle/>
          <a:p>
            <a:r>
              <a:rPr lang="en-US" sz="3400" u="sng" dirty="0">
                <a:solidFill>
                  <a:schemeClr val="tx2"/>
                </a:solidFill>
                <a:latin typeface="Copperplate Gothic Bold" pitchFamily="34" charset="0"/>
              </a:rPr>
              <a:t>THE ALGORITHM</a:t>
            </a:r>
            <a:endParaRPr lang="en-IN" sz="3400" u="sng" dirty="0">
              <a:solidFill>
                <a:schemeClr val="tx2"/>
              </a:solidFill>
              <a:latin typeface="Copperplate Gothic Bold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600200"/>
            <a:ext cx="8458200" cy="5257800"/>
          </a:xfrm>
        </p:spPr>
        <p:txBody>
          <a:bodyPr/>
          <a:lstStyle/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Algorithm recursive_binary_search(</a:t>
            </a:r>
            <a:r>
              <a:rPr lang="en-US" sz="1600" dirty="0" err="1">
                <a:solidFill>
                  <a:schemeClr val="tx1"/>
                </a:solidFill>
                <a:cs typeface="Times New Roman" pitchFamily="18" charset="0"/>
              </a:rPr>
              <a:t>arr</a:t>
            </a:r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, x, low, high</a:t>
            </a:r>
            <a:r>
              <a:rPr lang="en-US" sz="1600" dirty="0" smtClean="0">
                <a:solidFill>
                  <a:schemeClr val="tx1"/>
                </a:solidFill>
                <a:cs typeface="Times New Roman" pitchFamily="18" charset="0"/>
              </a:rPr>
              <a:t>)</a:t>
            </a:r>
            <a:endParaRPr lang="en-US" sz="1600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{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       if low &lt;= </a:t>
            </a:r>
            <a:r>
              <a:rPr lang="en-US" sz="1600" dirty="0" smtClean="0">
                <a:solidFill>
                  <a:schemeClr val="tx1"/>
                </a:solidFill>
                <a:cs typeface="Times New Roman" pitchFamily="18" charset="0"/>
              </a:rPr>
              <a:t>high</a:t>
            </a:r>
            <a:endParaRPr lang="en-US" sz="1600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          mid = (low + high) / 2 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          if </a:t>
            </a:r>
            <a:r>
              <a:rPr lang="en-US" sz="1600" dirty="0" err="1">
                <a:solidFill>
                  <a:schemeClr val="tx1"/>
                </a:solidFill>
                <a:cs typeface="Times New Roman" pitchFamily="18" charset="0"/>
              </a:rPr>
              <a:t>arr</a:t>
            </a:r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[mid] = </a:t>
            </a:r>
            <a:r>
              <a:rPr lang="en-US" sz="1600" dirty="0" smtClean="0">
                <a:solidFill>
                  <a:schemeClr val="tx1"/>
                </a:solidFill>
                <a:cs typeface="Times New Roman" pitchFamily="18" charset="0"/>
              </a:rPr>
              <a:t>x</a:t>
            </a:r>
            <a:endParaRPr lang="en-US" sz="1600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	return mid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# Target found at index mid 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          else if </a:t>
            </a:r>
            <a:r>
              <a:rPr lang="en-US" sz="1600" dirty="0" err="1">
                <a:solidFill>
                  <a:schemeClr val="tx1"/>
                </a:solidFill>
                <a:cs typeface="Times New Roman" pitchFamily="18" charset="0"/>
              </a:rPr>
              <a:t>arr</a:t>
            </a:r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[mid] &lt; </a:t>
            </a:r>
            <a:r>
              <a:rPr lang="en-US" sz="1600" dirty="0" smtClean="0">
                <a:solidFill>
                  <a:schemeClr val="tx1"/>
                </a:solidFill>
                <a:cs typeface="Times New Roman" pitchFamily="18" charset="0"/>
              </a:rPr>
              <a:t>x </a:t>
            </a:r>
            <a:endParaRPr lang="en-US" sz="1600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	return </a:t>
            </a:r>
            <a:r>
              <a:rPr lang="en-US" sz="1600" dirty="0" err="1">
                <a:solidFill>
                  <a:schemeClr val="tx1"/>
                </a:solidFill>
                <a:cs typeface="Times New Roman" pitchFamily="18" charset="0"/>
              </a:rPr>
              <a:t>recursive_binary_search</a:t>
            </a:r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cs typeface="Times New Roman" pitchFamily="18" charset="0"/>
              </a:rPr>
              <a:t>arr</a:t>
            </a:r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, target, mid + 1, high)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# Search in the right half 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          </a:t>
            </a:r>
            <a:r>
              <a:rPr lang="en-US" sz="1600" dirty="0" smtClean="0">
                <a:solidFill>
                  <a:schemeClr val="tx1"/>
                </a:solidFill>
                <a:cs typeface="Times New Roman" pitchFamily="18" charset="0"/>
              </a:rPr>
              <a:t>else</a:t>
            </a:r>
            <a:endParaRPr lang="en-US" sz="1600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	return </a:t>
            </a:r>
            <a:r>
              <a:rPr lang="en-US" sz="1600" dirty="0" err="1">
                <a:solidFill>
                  <a:schemeClr val="tx1"/>
                </a:solidFill>
                <a:cs typeface="Times New Roman" pitchFamily="18" charset="0"/>
              </a:rPr>
              <a:t>recursive_binary_search</a:t>
            </a:r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cs typeface="Times New Roman" pitchFamily="18" charset="0"/>
              </a:rPr>
              <a:t>arr</a:t>
            </a:r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, target, low, mid - 1) </a:t>
            </a:r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# Search in the left half 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      </a:t>
            </a:r>
            <a:r>
              <a:rPr lang="en-US" sz="1600" dirty="0" smtClean="0">
                <a:solidFill>
                  <a:schemeClr val="tx1"/>
                </a:solidFill>
                <a:cs typeface="Times New Roman" pitchFamily="18" charset="0"/>
              </a:rPr>
              <a:t>else </a:t>
            </a:r>
            <a:endParaRPr lang="en-US" sz="1600" dirty="0">
              <a:solidFill>
                <a:schemeClr val="tx1"/>
              </a:solidFill>
              <a:cs typeface="Times New Roman" pitchFamily="18" charset="0"/>
            </a:endParaRPr>
          </a:p>
          <a:p>
            <a:pPr algn="l"/>
            <a:r>
              <a:rPr lang="en-US" sz="1600" dirty="0">
                <a:solidFill>
                  <a:schemeClr val="tx1"/>
                </a:solidFill>
                <a:cs typeface="Times New Roman" pitchFamily="18" charset="0"/>
              </a:rPr>
              <a:t>          return  # Target not found</a:t>
            </a:r>
          </a:p>
          <a:p>
            <a:pPr algn="l"/>
            <a:r>
              <a:rPr lang="en-US" sz="16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1800" dirty="0">
                <a:latin typeface="Times New Roman" pitchFamily="18" charset="0"/>
                <a:cs typeface="Times New Roman" pitchFamily="18" charset="0"/>
              </a:rPr>
            </a:br>
            <a:endParaRPr lang="en-IN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MAULANA  ABUL KALAM AZAD UNIVERSITY OF TECHNOLOGY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CA-1: BCAD501B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248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  <a:t>EXAMPLE OF </a:t>
            </a:r>
            <a:b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</a:br>
            <a: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  <a:t>RECURSIVE BINARY SEARCH</a:t>
            </a:r>
            <a:endParaRPr lang="en-IN" u="sng" dirty="0">
              <a:solidFill>
                <a:schemeClr val="tx2"/>
              </a:solidFill>
              <a:latin typeface="Copperplate Gothic Bold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MAULANA  ABUL KALAM AZAD UNIVERSITY OF TECHNOLOGY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CA-1: BCAD501B</a:t>
            </a:r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1676400"/>
            <a:ext cx="4038599" cy="16796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189" y="1676400"/>
            <a:ext cx="4410075" cy="16796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Right Arrow 17"/>
          <p:cNvSpPr/>
          <p:nvPr/>
        </p:nvSpPr>
        <p:spPr>
          <a:xfrm>
            <a:off x="3962400" y="2133600"/>
            <a:ext cx="685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788" y="3581400"/>
            <a:ext cx="3952875" cy="16440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0" name="Down Arrow 19"/>
          <p:cNvSpPr/>
          <p:nvPr/>
        </p:nvSpPr>
        <p:spPr>
          <a:xfrm>
            <a:off x="7086600" y="2516231"/>
            <a:ext cx="381000" cy="12937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62" y="3581400"/>
            <a:ext cx="3038475" cy="16927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Left Arrow 21"/>
          <p:cNvSpPr/>
          <p:nvPr/>
        </p:nvSpPr>
        <p:spPr>
          <a:xfrm>
            <a:off x="3276600" y="4038600"/>
            <a:ext cx="1524000" cy="2286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562" y="4953000"/>
            <a:ext cx="2124075" cy="17297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5" name="Bent-Up Arrow 24"/>
          <p:cNvSpPr/>
          <p:nvPr/>
        </p:nvSpPr>
        <p:spPr>
          <a:xfrm rot="5400000">
            <a:off x="1793081" y="4384828"/>
            <a:ext cx="990600" cy="1681162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49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685799"/>
          </a:xfrm>
        </p:spPr>
        <p:txBody>
          <a:bodyPr/>
          <a:lstStyle/>
          <a:p>
            <a: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  <a:t>TIME COMPLEXITY ANALYSIS</a:t>
            </a:r>
            <a:endParaRPr lang="en-IN" u="sng" dirty="0">
              <a:solidFill>
                <a:schemeClr val="tx2"/>
              </a:solidFill>
              <a:latin typeface="Copperplate Gothic Bold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524000"/>
            <a:ext cx="8458200" cy="4648200"/>
          </a:xfrm>
        </p:spPr>
        <p:txBody>
          <a:bodyPr/>
          <a:lstStyle/>
          <a:p>
            <a:pPr algn="l"/>
            <a:r>
              <a:rPr lang="en-US" sz="1800" b="1" dirty="0">
                <a:solidFill>
                  <a:schemeClr val="tx1"/>
                </a:solidFill>
              </a:rPr>
              <a:t>Best Case Time Complexity: O(1):</a:t>
            </a:r>
            <a:endParaRPr lang="en-IN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	Best case is when the element is at the middle index of the array. It takes only one comparison to find the target element. So the best case complexity is</a:t>
            </a:r>
            <a:r>
              <a:rPr lang="en-US" sz="1800" i="1" dirty="0">
                <a:solidFill>
                  <a:schemeClr val="tx1"/>
                </a:solidFill>
              </a:rPr>
              <a:t> </a:t>
            </a:r>
            <a:r>
              <a:rPr lang="en-US" sz="1800" b="1" dirty="0">
                <a:solidFill>
                  <a:schemeClr val="tx1"/>
                </a:solidFill>
              </a:rPr>
              <a:t>O(1)</a:t>
            </a:r>
            <a:r>
              <a:rPr lang="en-US" sz="1800" i="1" dirty="0">
                <a:solidFill>
                  <a:schemeClr val="tx1"/>
                </a:solidFill>
              </a:rPr>
              <a:t>.</a:t>
            </a:r>
            <a:endParaRPr lang="en-IN" sz="1800" dirty="0">
              <a:solidFill>
                <a:schemeClr val="tx1"/>
              </a:solidFill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Average Case Time Complexity: O(log N):</a:t>
            </a:r>
            <a:endParaRPr lang="en-IN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	The average complexity = (</a:t>
            </a:r>
            <a:r>
              <a:rPr lang="en-US" sz="1800" b="1" dirty="0">
                <a:solidFill>
                  <a:schemeClr val="tx1"/>
                </a:solidFill>
              </a:rPr>
              <a:t>N*(</a:t>
            </a:r>
            <a:r>
              <a:rPr lang="en-US" sz="1800" b="1" dirty="0" err="1">
                <a:solidFill>
                  <a:schemeClr val="tx1"/>
                </a:solidFill>
              </a:rPr>
              <a:t>logN</a:t>
            </a:r>
            <a:r>
              <a:rPr lang="en-US" sz="1800" b="1" dirty="0">
                <a:solidFill>
                  <a:schemeClr val="tx1"/>
                </a:solidFill>
              </a:rPr>
              <a:t> – 1) + 1)/N+1</a:t>
            </a:r>
            <a:r>
              <a:rPr lang="en-US" sz="1800" dirty="0">
                <a:solidFill>
                  <a:schemeClr val="tx1"/>
                </a:solidFill>
              </a:rPr>
              <a:t> = </a:t>
            </a:r>
            <a:r>
              <a:rPr lang="en-US" sz="1800" b="1" dirty="0">
                <a:solidFill>
                  <a:schemeClr val="tx1"/>
                </a:solidFill>
              </a:rPr>
              <a:t>N*</a:t>
            </a:r>
            <a:r>
              <a:rPr lang="en-US" sz="1800" b="1" dirty="0" err="1">
                <a:solidFill>
                  <a:schemeClr val="tx1"/>
                </a:solidFill>
              </a:rPr>
              <a:t>logN</a:t>
            </a:r>
            <a:r>
              <a:rPr lang="en-US" sz="1800" b="1" dirty="0">
                <a:solidFill>
                  <a:schemeClr val="tx1"/>
                </a:solidFill>
              </a:rPr>
              <a:t> / (N+1) + 1/(N+1)</a:t>
            </a:r>
            <a:r>
              <a:rPr lang="en-US" sz="1800" dirty="0">
                <a:solidFill>
                  <a:schemeClr val="tx1"/>
                </a:solidFill>
              </a:rPr>
              <a:t>. Here the dominant term is N*</a:t>
            </a:r>
            <a:r>
              <a:rPr lang="en-US" sz="1800" dirty="0" err="1">
                <a:solidFill>
                  <a:schemeClr val="tx1"/>
                </a:solidFill>
              </a:rPr>
              <a:t>logN</a:t>
            </a:r>
            <a:r>
              <a:rPr lang="en-US" sz="1800" dirty="0">
                <a:solidFill>
                  <a:schemeClr val="tx1"/>
                </a:solidFill>
              </a:rPr>
              <a:t>/(N+1) which is approximately </a:t>
            </a:r>
            <a:r>
              <a:rPr lang="en-US" sz="1800" b="1" dirty="0" err="1">
                <a:solidFill>
                  <a:schemeClr val="tx1"/>
                </a:solidFill>
              </a:rPr>
              <a:t>logN</a:t>
            </a:r>
            <a:r>
              <a:rPr lang="en-US" sz="1800" dirty="0">
                <a:solidFill>
                  <a:schemeClr val="tx1"/>
                </a:solidFill>
              </a:rPr>
              <a:t>. So the average case complexity is </a:t>
            </a:r>
            <a:r>
              <a:rPr lang="en-US" sz="1800" b="1" dirty="0">
                <a:solidFill>
                  <a:schemeClr val="tx1"/>
                </a:solidFill>
              </a:rPr>
              <a:t>O(</a:t>
            </a:r>
            <a:r>
              <a:rPr lang="en-US" sz="1800" b="1" dirty="0" err="1">
                <a:solidFill>
                  <a:schemeClr val="tx1"/>
                </a:solidFill>
              </a:rPr>
              <a:t>logN</a:t>
            </a:r>
            <a:r>
              <a:rPr lang="en-US" sz="1800" b="1" dirty="0">
                <a:solidFill>
                  <a:schemeClr val="tx1"/>
                </a:solidFill>
              </a:rPr>
              <a:t>).</a:t>
            </a:r>
            <a:endParaRPr lang="en-IN" sz="1800" dirty="0">
              <a:solidFill>
                <a:schemeClr val="tx1"/>
              </a:solidFill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</a:rPr>
              <a:t>Worst Case Time Complexity: O(log </a:t>
            </a:r>
            <a:r>
              <a:rPr lang="en-US" sz="1800" b="1">
                <a:solidFill>
                  <a:schemeClr val="tx1"/>
                </a:solidFill>
              </a:rPr>
              <a:t>N):</a:t>
            </a:r>
            <a:endParaRPr lang="en-IN" sz="1800" dirty="0">
              <a:solidFill>
                <a:schemeClr val="tx1"/>
              </a:solidFill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</a:rPr>
              <a:t>	The worst case will be when the element is present in the first position. As seen in the average case, the comparison required to reach the first element is </a:t>
            </a:r>
            <a:r>
              <a:rPr lang="en-US" sz="1800" b="1" dirty="0" err="1">
                <a:solidFill>
                  <a:schemeClr val="tx1"/>
                </a:solidFill>
              </a:rPr>
              <a:t>logN</a:t>
            </a:r>
            <a:r>
              <a:rPr lang="en-US" sz="1800" dirty="0">
                <a:solidFill>
                  <a:schemeClr val="tx1"/>
                </a:solidFill>
              </a:rPr>
              <a:t>. Worst case may also occur if the value is at the last index of the array.</a:t>
            </a:r>
            <a:r>
              <a:rPr lang="en-IN" sz="1800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So the time complexity for the worst case is </a:t>
            </a:r>
            <a:r>
              <a:rPr lang="en-US" sz="1800" b="1" dirty="0">
                <a:solidFill>
                  <a:schemeClr val="tx1"/>
                </a:solidFill>
              </a:rPr>
              <a:t>O(</a:t>
            </a:r>
            <a:r>
              <a:rPr lang="en-US" sz="1800" b="1" dirty="0" err="1">
                <a:solidFill>
                  <a:schemeClr val="tx1"/>
                </a:solidFill>
              </a:rPr>
              <a:t>logN</a:t>
            </a:r>
            <a:r>
              <a:rPr lang="en-US" sz="1800" b="1" dirty="0">
                <a:solidFill>
                  <a:schemeClr val="tx1"/>
                </a:solidFill>
              </a:rPr>
              <a:t>)</a:t>
            </a:r>
            <a:r>
              <a:rPr lang="en-US" sz="1800" dirty="0">
                <a:solidFill>
                  <a:schemeClr val="tx1"/>
                </a:solidFill>
              </a:rPr>
              <a:t>.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IN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MAULANA  ABUL KALAM AZAD UNIVERSITY OF TECHNOLOGY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CA-1: BCAD501B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310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>
            <a:off x="4507550" y="6318725"/>
            <a:ext cx="1343100" cy="3651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C0000"/>
              </a:solidFill>
            </a:endParaRPr>
          </a:p>
        </p:txBody>
      </p:sp>
      <p:sp>
        <p:nvSpPr>
          <p:cNvPr id="98" name="Google Shape;98;p11"/>
          <p:cNvSpPr txBox="1">
            <a:spLocks noGrp="1"/>
          </p:cNvSpPr>
          <p:nvPr>
            <p:ph type="ctrTitle"/>
          </p:nvPr>
        </p:nvSpPr>
        <p:spPr>
          <a:xfrm>
            <a:off x="685800" y="517525"/>
            <a:ext cx="7772400" cy="8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Balthazar"/>
              <a:buNone/>
            </a:pPr>
            <a:r>
              <a:rPr lang="en-US" u="sng" dirty="0">
                <a:solidFill>
                  <a:schemeClr val="dk2"/>
                </a:solidFill>
                <a:latin typeface="Copperplate Gothic Bold" panose="020E0705020206020404" pitchFamily="34" charset="0"/>
                <a:ea typeface="Balthazar"/>
                <a:cs typeface="Balthazar"/>
                <a:sym typeface="Balthazar"/>
              </a:rPr>
              <a:t>Calculate Time Complexity:</a:t>
            </a:r>
            <a:endParaRPr dirty="0">
              <a:latin typeface="Copperplate Gothic Bold" panose="020E0705020206020404" pitchFamily="34" charset="0"/>
            </a:endParaRPr>
          </a:p>
        </p:txBody>
      </p:sp>
      <p:sp>
        <p:nvSpPr>
          <p:cNvPr id="99" name="Google Shape;99;p11"/>
          <p:cNvSpPr txBox="1">
            <a:spLocks noGrp="1"/>
          </p:cNvSpPr>
          <p:nvPr>
            <p:ph type="ftr" idx="11"/>
          </p:nvPr>
        </p:nvSpPr>
        <p:spPr>
          <a:xfrm>
            <a:off x="152400" y="152400"/>
            <a:ext cx="6629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MAULANA  ABUL KALAM AZAD UNIVERSITY OF TECHNOLOGY</a:t>
            </a:r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ldNum" idx="12"/>
          </p:nvPr>
        </p:nvSpPr>
        <p:spPr>
          <a:xfrm>
            <a:off x="6934200" y="15240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CA-1: BCAD501B</a:t>
            </a:r>
            <a:endParaRPr/>
          </a:p>
        </p:txBody>
      </p:sp>
      <p:sp>
        <p:nvSpPr>
          <p:cNvPr id="101" name="Google Shape;101;p11"/>
          <p:cNvSpPr txBox="1"/>
          <p:nvPr/>
        </p:nvSpPr>
        <p:spPr>
          <a:xfrm>
            <a:off x="1953625" y="1371625"/>
            <a:ext cx="6165900" cy="54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T(n)=1, when n=1;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T(n)=T(n/2)+1, when n&gt;1;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T(n)=  </a:t>
            </a:r>
            <a:r>
              <a:rPr lang="en-US" sz="1600" dirty="0">
                <a:solidFill>
                  <a:schemeClr val="dk1"/>
                </a:solidFill>
              </a:rPr>
              <a:t>T(n/2)+1……for 1st time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                   T(n/2)={T(n/4)+1}+1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=T(n/4)+2……for 2nd time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                   T(n/4)=T(n/8)+3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                            =T(n/2^3)+3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….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….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Continue </a:t>
            </a:r>
            <a:r>
              <a:rPr lang="en-US" sz="1600" dirty="0" err="1">
                <a:solidFill>
                  <a:schemeClr val="dk1"/>
                </a:solidFill>
              </a:rPr>
              <a:t>upto</a:t>
            </a:r>
            <a:r>
              <a:rPr lang="en-US" sz="1600" dirty="0">
                <a:solidFill>
                  <a:schemeClr val="dk1"/>
                </a:solidFill>
              </a:rPr>
              <a:t> k times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               So,             T(n)=T(n/2^k)+k………(</a:t>
            </a:r>
            <a:r>
              <a:rPr lang="en-US" sz="1600" dirty="0" err="1">
                <a:solidFill>
                  <a:schemeClr val="dk1"/>
                </a:solidFill>
              </a:rPr>
              <a:t>i</a:t>
            </a:r>
            <a:r>
              <a:rPr lang="en-US" sz="1600" dirty="0">
                <a:solidFill>
                  <a:schemeClr val="dk1"/>
                </a:solidFill>
              </a:rPr>
              <a:t>)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               Assume,     T(n/2^k)=1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                                          =&gt; n/2^k=1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                                          =&gt;  2^k=n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                                          =&gt; k= log</a:t>
            </a:r>
            <a:r>
              <a:rPr lang="en-US" sz="1600" baseline="-25000" dirty="0">
                <a:solidFill>
                  <a:schemeClr val="dk1"/>
                </a:solidFill>
              </a:rPr>
              <a:t>2</a:t>
            </a:r>
            <a:r>
              <a:rPr lang="en-US" sz="1600" dirty="0">
                <a:solidFill>
                  <a:schemeClr val="dk1"/>
                </a:solidFill>
              </a:rPr>
              <a:t>n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Putting the value of k in equation (</a:t>
            </a:r>
            <a:r>
              <a:rPr lang="en-US" sz="1600" dirty="0" err="1">
                <a:solidFill>
                  <a:schemeClr val="dk1"/>
                </a:solidFill>
              </a:rPr>
              <a:t>i</a:t>
            </a:r>
            <a:r>
              <a:rPr lang="en-US" sz="1600" dirty="0">
                <a:solidFill>
                  <a:schemeClr val="dk1"/>
                </a:solidFill>
              </a:rPr>
              <a:t>)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T(n)=1+log</a:t>
            </a:r>
            <a:r>
              <a:rPr lang="en-US" sz="1600" baseline="-25000" dirty="0">
                <a:solidFill>
                  <a:schemeClr val="dk1"/>
                </a:solidFill>
              </a:rPr>
              <a:t>2</a:t>
            </a:r>
            <a:r>
              <a:rPr lang="en-US" sz="1600" dirty="0">
                <a:solidFill>
                  <a:schemeClr val="dk1"/>
                </a:solidFill>
              </a:rPr>
              <a:t>n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                                     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                                                T(n)=log</a:t>
            </a:r>
            <a:r>
              <a:rPr lang="en-US" sz="1600" baseline="-25000" dirty="0">
                <a:solidFill>
                  <a:schemeClr val="dk1"/>
                </a:solidFill>
              </a:rPr>
              <a:t>2</a:t>
            </a:r>
            <a:r>
              <a:rPr lang="en-US" sz="1600" dirty="0">
                <a:solidFill>
                  <a:schemeClr val="dk1"/>
                </a:solidFill>
              </a:rPr>
              <a:t>n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</a:rPr>
              <a:t>             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33401"/>
            <a:ext cx="7772400" cy="685799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  <a:t/>
            </a:r>
            <a:b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</a:br>
            <a: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  <a:t>Advantages of </a:t>
            </a:r>
            <a:b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</a:br>
            <a: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  <a:t>recursive binary search</a:t>
            </a:r>
            <a:endParaRPr lang="en-IN" u="sng" dirty="0">
              <a:solidFill>
                <a:schemeClr val="tx2"/>
              </a:solidFill>
              <a:latin typeface="Copperplate Gothic Bold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981200"/>
            <a:ext cx="8610600" cy="4648200"/>
          </a:xfrm>
        </p:spPr>
        <p:txBody>
          <a:bodyPr/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Efficiency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Simple Implementation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Memory Efficiency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Optimal for Sorted Data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Divide and Conquer</a:t>
            </a:r>
            <a:endParaRPr lang="en-IN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MAULANA  ABUL KALAM AZAD UNIVERSITY OF TECHNOLOGY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CA-1: BCAD501B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683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685799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  <a:t/>
            </a:r>
            <a:b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</a:br>
            <a: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  <a:t>DISADVANTAGES OF </a:t>
            </a:r>
            <a:b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</a:br>
            <a: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  <a:t>RECURSIVE BINARY SEARCH</a:t>
            </a:r>
            <a:endParaRPr lang="en-IN" u="sng" dirty="0">
              <a:solidFill>
                <a:schemeClr val="tx2"/>
              </a:solidFill>
              <a:latin typeface="Copperplate Gothic Bold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133600"/>
            <a:ext cx="8458200" cy="4343400"/>
          </a:xfrm>
        </p:spPr>
        <p:txBody>
          <a:bodyPr/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</a:rPr>
              <a:t>Recursive Overhead</a:t>
            </a:r>
            <a:endParaRPr lang="en-US" sz="2800" dirty="0">
              <a:solidFill>
                <a:schemeClr val="tx1"/>
              </a:solidFill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</a:rPr>
              <a:t>Implementation Complexity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</a:rPr>
              <a:t>Limited Applicability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</a:rPr>
              <a:t>Not Always Faster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2800" b="1" dirty="0">
                <a:solidFill>
                  <a:schemeClr val="tx1"/>
                </a:solidFill>
              </a:rPr>
              <a:t>Lack of Flexibility</a:t>
            </a:r>
            <a:r>
              <a:rPr lang="en-US" sz="1800" dirty="0"/>
              <a:t/>
            </a:r>
            <a:br>
              <a:rPr lang="en-US" sz="1800" dirty="0"/>
            </a:br>
            <a:endParaRPr lang="en-IN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MAULANA  ABUL KALAM AZAD UNIVERSITY OF TECHNOLOGY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CA-1: BCAD501B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345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761999"/>
          </a:xfrm>
        </p:spPr>
        <p:txBody>
          <a:bodyPr/>
          <a:lstStyle/>
          <a:p>
            <a:r>
              <a:rPr lang="en-US" u="sng" dirty="0">
                <a:solidFill>
                  <a:schemeClr val="tx2"/>
                </a:solidFill>
                <a:latin typeface="Copperplate Gothic Bold" pitchFamily="34" charset="0"/>
              </a:rPr>
              <a:t>CONCLUSION</a:t>
            </a:r>
            <a:endParaRPr lang="en-IN" u="sng" dirty="0">
              <a:solidFill>
                <a:schemeClr val="tx2"/>
              </a:solidFill>
              <a:latin typeface="Copperplate Gothic Bold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524000"/>
            <a:ext cx="8305800" cy="4114800"/>
          </a:xfrm>
        </p:spPr>
        <p:txBody>
          <a:bodyPr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conclusion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we must remember that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future of any algorithm's scope depends on technological advancements, emerging problem domains, and the needs of various industries. While recursive binary search is already a well-established technique, ongoing research and innovation could lead to exciting new applications and optimizations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l"/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we should always remember few points such as: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Efficient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Precision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Divide and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Conquer 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Logarithmic Complexity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Recursive Logic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Space Efficiency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Versatile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Technique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Real-world Impact 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Mastering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Through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Practice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Algorithmic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Elegance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Precision and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Speed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1]</a:t>
            </a:r>
          </a:p>
          <a:p>
            <a:pPr algn="l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endParaRPr lang="en-IN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MAULANA  ABUL KALAM AZAD UNIVERSITY OF TECHNOLOGY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CA-1: BCAD501B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166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MAULANA  ABUL KALAM AZAD UNIVERSITY OF TECHNOLOGY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152400"/>
            <a:ext cx="2209800" cy="365125"/>
          </a:xfrm>
        </p:spPr>
        <p:txBody>
          <a:bodyPr/>
          <a:lstStyle/>
          <a:p>
            <a:r>
              <a:rPr lang="en-US" dirty="0"/>
              <a:t>CA-1: BCAD-501B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838200" y="1066801"/>
            <a:ext cx="7772400" cy="914400"/>
          </a:xfrm>
        </p:spPr>
        <p:txBody>
          <a:bodyPr/>
          <a:lstStyle/>
          <a:p>
            <a:r>
              <a:rPr lang="en-US" u="sng" dirty="0">
                <a:solidFill>
                  <a:srgbClr val="002060"/>
                </a:solidFill>
                <a:latin typeface="Copperplate Gothic Bold" pitchFamily="34" charset="0"/>
              </a:rPr>
              <a:t>References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09600" y="2057400"/>
            <a:ext cx="8077200" cy="4419600"/>
          </a:xfrm>
        </p:spPr>
        <p:txBody>
          <a:bodyPr/>
          <a:lstStyle/>
          <a:p>
            <a:pPr marL="457200" indent="-457200" algn="l">
              <a:buFont typeface="+mj-lt"/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https://www.techiedelight.com/binary-search</a:t>
            </a: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/</a:t>
            </a: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[Access Date: 08.08.23 Time: 2:30pm]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  <a:hlinkClick r:id="rId3"/>
              </a:rPr>
              <a:t>https://www.chegg.com/homework-help/definitions/recursive-binary-search-3#:~:text=Recursive%20binary%20search%20is%20an,within%20a%20single%20method%20call</a:t>
            </a:r>
            <a:r>
              <a:rPr lang="en-US" sz="24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). 		</a:t>
            </a: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Access Date: 08.08.23 Time: </a:t>
            </a:r>
            <a:r>
              <a:rPr lang="en-US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3:30pm</a:t>
            </a:r>
            <a:r>
              <a:rPr lang="en-US" sz="2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en-US" sz="24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u="sng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pperplate Gothic Bold" pitchFamily="34" charset="0"/>
              </a:rPr>
              <a:t>THANK YOU</a:t>
            </a:r>
            <a:endParaRPr lang="en-IN" sz="6000" u="sng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pperplate Gothic Bold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MAULANA  ABUL KALAM AZAD UNIVERSITY OF TECHNOLOGY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CA-1: BCAD501B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778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482</Words>
  <Application>Microsoft Office PowerPoint</Application>
  <PresentationFormat>On-screen Show (4:3)</PresentationFormat>
  <Paragraphs>111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RECURSIVE BINARY SEARCH: ALGORITHM, EXAMPLE &amp; TIME COMPLEXITY ANALYSIS</vt:lpstr>
      <vt:lpstr>INTRODUCTION</vt:lpstr>
      <vt:lpstr>THE ALGORITHM</vt:lpstr>
      <vt:lpstr>EXAMPLE OF  RECURSIVE BINARY SEARCH</vt:lpstr>
      <vt:lpstr>TIME COMPLEXITY ANALYSIS</vt:lpstr>
      <vt:lpstr>Calculate Time Complexity:</vt:lpstr>
      <vt:lpstr> Advantages of  recursive binary search</vt:lpstr>
      <vt:lpstr> DISADVANTAGES OF  RECURSIVE BINARY SEARCH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Arnab</dc:creator>
  <cp:lastModifiedBy>DELL</cp:lastModifiedBy>
  <cp:revision>75</cp:revision>
  <dcterms:created xsi:type="dcterms:W3CDTF">2022-07-30T14:05:44Z</dcterms:created>
  <dcterms:modified xsi:type="dcterms:W3CDTF">2023-08-10T14:29:04Z</dcterms:modified>
</cp:coreProperties>
</file>