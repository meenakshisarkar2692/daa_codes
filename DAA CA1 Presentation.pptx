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261" r:id="rId3"/>
    <p:sldId id="263" r:id="rId4"/>
    <p:sldId id="264" r:id="rId5"/>
    <p:sldId id="269" r:id="rId6"/>
    <p:sldId id="265" r:id="rId7"/>
    <p:sldId id="266" r:id="rId8"/>
    <p:sldId id="267" r:id="rId9"/>
    <p:sldId id="259" r:id="rId10"/>
    <p:sldId id="268"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2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38104A-173E-4031-9F41-14C051C6B212}" type="datetimeFigureOut">
              <a:rPr lang="en-US" smtClean="0"/>
              <a:pPr/>
              <a:t>8/9/2023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88F841-4E84-492A-997A-6825A38F85CA}" type="slidenum">
              <a:rPr lang="en-US" smtClean="0"/>
              <a:pPr/>
              <a:t>‹#›</a:t>
            </a:fld>
            <a:endParaRPr lang="en-US"/>
          </a:p>
        </p:txBody>
      </p:sp>
    </p:spTree>
    <p:extLst>
      <p:ext uri="{BB962C8B-B14F-4D97-AF65-F5344CB8AC3E}">
        <p14:creationId xmlns:p14="http://schemas.microsoft.com/office/powerpoint/2010/main" val="1042656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a:xfrm>
            <a:off x="152400" y="152400"/>
            <a:ext cx="6629400" cy="365125"/>
          </a:xfrm>
        </p:spPr>
        <p:txBody>
          <a:bodyPr/>
          <a:lstStyle>
            <a:lvl1pPr>
              <a:defRPr sz="1600"/>
            </a:lvl1pPr>
          </a:lstStyle>
          <a:p>
            <a:r>
              <a:rPr lang="en-US" dirty="0"/>
              <a:t>MAULANA  ABUL KALAM AZAD UNIVERSITY OF TECHNOLOGY</a:t>
            </a:r>
          </a:p>
        </p:txBody>
      </p:sp>
      <p:sp>
        <p:nvSpPr>
          <p:cNvPr id="6" name="Slide Number Placeholder 5"/>
          <p:cNvSpPr>
            <a:spLocks noGrp="1"/>
          </p:cNvSpPr>
          <p:nvPr>
            <p:ph type="sldNum" sz="quarter" idx="12"/>
          </p:nvPr>
        </p:nvSpPr>
        <p:spPr>
          <a:xfrm>
            <a:off x="6934200" y="152400"/>
            <a:ext cx="2057400" cy="365125"/>
          </a:xfrm>
        </p:spPr>
        <p:txBody>
          <a:bodyPr/>
          <a:lstStyle>
            <a:lvl1pPr algn="ctr">
              <a:defRPr sz="1800"/>
            </a:lvl1pPr>
          </a:lstStyle>
          <a:p>
            <a:r>
              <a:rPr lang="en-US" dirty="0"/>
              <a:t>CA-1: BCAD501B</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62000"/>
            <a:ext cx="8229600" cy="5715000"/>
          </a:xfrm>
          <a:prstGeom prst="rect">
            <a:avLst/>
          </a:prstGeom>
        </p:spPr>
        <p:txBody>
          <a:bodyPr vert="horz" lIns="91440" tIns="45720" rIns="91440" bIns="45720" rtlCol="0" anchor="ctr">
            <a:normAutofit/>
          </a:bodyPr>
          <a:lstStyle/>
          <a:p>
            <a:r>
              <a:rPr lang="en-US" dirty="0"/>
              <a:t>Presentation</a:t>
            </a:r>
            <a:br>
              <a:rPr lang="en-US" dirty="0"/>
            </a:br>
            <a:r>
              <a:rPr lang="en-US" dirty="0"/>
              <a:t>On</a:t>
            </a:r>
            <a:br>
              <a:rPr lang="en-US" dirty="0"/>
            </a:br>
            <a:r>
              <a:rPr lang="en-US" dirty="0"/>
              <a:t>&lt;TOPIC NAME&gt;</a:t>
            </a:r>
            <a:br>
              <a:rPr lang="en-US" dirty="0"/>
            </a:br>
            <a:r>
              <a:rPr lang="en-US" dirty="0"/>
              <a:t>By</a:t>
            </a:r>
            <a:br>
              <a:rPr lang="en-US" dirty="0"/>
            </a:br>
            <a:r>
              <a:rPr lang="en-US" dirty="0"/>
              <a:t>&lt;STUDENT NAME &gt;</a:t>
            </a:r>
            <a:br>
              <a:rPr lang="en-US" dirty="0"/>
            </a:br>
            <a:r>
              <a:rPr lang="en-US" dirty="0"/>
              <a:t>&lt;UNIV. ROLL NO: 21301221***&gt;</a:t>
            </a:r>
            <a:br>
              <a:rPr lang="en-US" dirty="0"/>
            </a:br>
            <a:r>
              <a:rPr lang="en-US" dirty="0"/>
              <a:t>&lt;29TH JULY, 2022&gt;</a:t>
            </a:r>
            <a:br>
              <a:rPr lang="en-US" dirty="0"/>
            </a:br>
            <a:endParaRPr lang="en-US" dirty="0"/>
          </a:p>
        </p:txBody>
      </p:sp>
      <p:sp>
        <p:nvSpPr>
          <p:cNvPr id="4" name="Date Placeholder 3"/>
          <p:cNvSpPr>
            <a:spLocks noGrp="1"/>
          </p:cNvSpPr>
          <p:nvPr>
            <p:ph type="dt" sz="half" idx="2"/>
          </p:nvPr>
        </p:nvSpPr>
        <p:spPr>
          <a:xfrm>
            <a:off x="152400" y="152400"/>
            <a:ext cx="2209800" cy="365125"/>
          </a:xfrm>
          <a:prstGeom prst="rect">
            <a:avLst/>
          </a:prstGeom>
        </p:spPr>
        <p:txBody>
          <a:bodyPr vert="horz" lIns="91440" tIns="45720" rIns="91440" bIns="45720" rtlCol="0" anchor="ctr"/>
          <a:lstStyle>
            <a:lvl1pPr algn="ctr">
              <a:defRPr sz="1200" b="1">
                <a:solidFill>
                  <a:schemeClr val="tx2">
                    <a:lumMod val="75000"/>
                  </a:schemeClr>
                </a:solidFill>
                <a:latin typeface="Times New Roman" pitchFamily="18" charset="0"/>
                <a:cs typeface="Times New Roman" pitchFamily="18" charset="0"/>
              </a:defRPr>
            </a:lvl1pPr>
          </a:lstStyle>
          <a:p>
            <a:r>
              <a:rPr lang="en-US"/>
              <a:t>THE HERITAGE ACADEMY</a:t>
            </a:r>
            <a:endParaRPr lang="en-US" dirty="0"/>
          </a:p>
        </p:txBody>
      </p:sp>
      <p:sp>
        <p:nvSpPr>
          <p:cNvPr id="5" name="Footer Placeholder 4"/>
          <p:cNvSpPr>
            <a:spLocks noGrp="1"/>
          </p:cNvSpPr>
          <p:nvPr>
            <p:ph type="ftr" sz="quarter" idx="3"/>
          </p:nvPr>
        </p:nvSpPr>
        <p:spPr>
          <a:xfrm>
            <a:off x="2438400" y="152400"/>
            <a:ext cx="5029200" cy="365125"/>
          </a:xfrm>
          <a:prstGeom prst="rect">
            <a:avLst/>
          </a:prstGeom>
        </p:spPr>
        <p:txBody>
          <a:bodyPr vert="horz" lIns="91440" tIns="45720" rIns="91440" bIns="45720" rtlCol="0" anchor="ctr"/>
          <a:lstStyle>
            <a:lvl1pPr algn="ctr">
              <a:defRPr sz="1200" b="1">
                <a:solidFill>
                  <a:schemeClr val="tx2">
                    <a:lumMod val="75000"/>
                  </a:schemeClr>
                </a:solidFill>
                <a:latin typeface="Times New Roman" pitchFamily="18" charset="0"/>
                <a:cs typeface="Times New Roman" pitchFamily="18" charset="0"/>
              </a:defRPr>
            </a:lvl1pPr>
          </a:lstStyle>
          <a:p>
            <a:r>
              <a:rPr lang="en-US" dirty="0"/>
              <a:t>MAULANA ABUL KALAM AZAD UNIVERSITY OF TECHNOLOGY</a:t>
            </a:r>
          </a:p>
        </p:txBody>
      </p:sp>
      <p:sp>
        <p:nvSpPr>
          <p:cNvPr id="6" name="Slide Number Placeholder 5"/>
          <p:cNvSpPr>
            <a:spLocks noGrp="1"/>
          </p:cNvSpPr>
          <p:nvPr>
            <p:ph type="sldNum" sz="quarter" idx="4"/>
          </p:nvPr>
        </p:nvSpPr>
        <p:spPr>
          <a:xfrm>
            <a:off x="7543800" y="152400"/>
            <a:ext cx="1447800" cy="365125"/>
          </a:xfrm>
          <a:prstGeom prst="rect">
            <a:avLst/>
          </a:prstGeom>
        </p:spPr>
        <p:txBody>
          <a:bodyPr vert="horz" lIns="91440" tIns="45720" rIns="91440" bIns="45720" rtlCol="0" anchor="ctr"/>
          <a:lstStyle>
            <a:lvl1pPr algn="r">
              <a:defRPr sz="1200" b="1">
                <a:solidFill>
                  <a:schemeClr val="tx2">
                    <a:lumMod val="75000"/>
                  </a:schemeClr>
                </a:solidFill>
                <a:latin typeface="Times New Roman" pitchFamily="18" charset="0"/>
                <a:cs typeface="Times New Roman" pitchFamily="18" charset="0"/>
              </a:defRPr>
            </a:lvl1pPr>
          </a:lstStyle>
          <a:p>
            <a:r>
              <a:rPr lang="en-US" dirty="0"/>
              <a:t>CA-1: BCAD 501B</a:t>
            </a:r>
          </a:p>
        </p:txBody>
      </p:sp>
    </p:spTree>
  </p:cSld>
  <p:clrMap bg1="lt1" tx1="dk1" bg2="lt2" tx2="dk2" accent1="accent1" accent2="accent2" accent3="accent3" accent4="accent4" accent5="accent5" accent6="accent6" hlink="hlink" folHlink="folHlink"/>
  <p:sldLayoutIdLst>
    <p:sldLayoutId id="2147483649" r:id="rId1"/>
  </p:sldLayoutIdLst>
  <p:hf hdr="0"/>
  <p:txStyles>
    <p:titleStyle>
      <a:lvl1pPr algn="ctr" defTabSz="914400" rtl="0" eaLnBrk="1" latinLnBrk="0" hangingPunct="1">
        <a:spcBef>
          <a:spcPct val="0"/>
        </a:spcBef>
        <a:buNone/>
        <a:defRPr sz="3600" b="1" kern="1200"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chegg.com/homework-help/definitions/recursive-binary-search-3#:~:text=Recursive%20binary%20search%20is%20an,within%20a%20single%20method%20call" TargetMode="External"/><Relationship Id="rId2" Type="http://schemas.openxmlformats.org/officeDocument/2006/relationships/hyperlink" Target="https://www.techiedelight.com/binary-search/"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MAULANA  ABUL KALAM AZAD UNIVERSITY OF TECHNOLOGY</a:t>
            </a:r>
          </a:p>
        </p:txBody>
      </p:sp>
      <p:sp>
        <p:nvSpPr>
          <p:cNvPr id="5" name="Slide Number Placeholder 4"/>
          <p:cNvSpPr>
            <a:spLocks noGrp="1"/>
          </p:cNvSpPr>
          <p:nvPr>
            <p:ph type="sldNum" sz="quarter" idx="12"/>
          </p:nvPr>
        </p:nvSpPr>
        <p:spPr>
          <a:xfrm>
            <a:off x="6705600" y="152400"/>
            <a:ext cx="2286000" cy="381000"/>
          </a:xfrm>
        </p:spPr>
        <p:txBody>
          <a:bodyPr/>
          <a:lstStyle/>
          <a:p>
            <a:r>
              <a:rPr lang="en-US" dirty="0"/>
              <a:t>CA-1: BCAD-501B</a:t>
            </a:r>
          </a:p>
        </p:txBody>
      </p:sp>
      <p:sp>
        <p:nvSpPr>
          <p:cNvPr id="6" name="Title 1"/>
          <p:cNvSpPr>
            <a:spLocks noGrp="1"/>
          </p:cNvSpPr>
          <p:nvPr>
            <p:ph type="ctrTitle"/>
          </p:nvPr>
        </p:nvSpPr>
        <p:spPr>
          <a:xfrm>
            <a:off x="685800" y="838200"/>
            <a:ext cx="7772400" cy="1447800"/>
          </a:xfrm>
        </p:spPr>
        <p:txBody>
          <a:bodyPr>
            <a:noAutofit/>
          </a:bodyPr>
          <a:lstStyle/>
          <a:p>
            <a:r>
              <a:rPr lang="en-US" sz="3200" u="sng" dirty="0" smtClean="0">
                <a:solidFill>
                  <a:srgbClr val="002060"/>
                </a:solidFill>
              </a:rPr>
              <a:t>RECURSIVE BINARY SEARCH: ALGORITHM, EXAMPLE &amp; TIME COMPLEXITY ANALYSIS</a:t>
            </a:r>
            <a:endParaRPr lang="en-US" sz="3200" u="sng" dirty="0">
              <a:solidFill>
                <a:srgbClr val="002060"/>
              </a:solidFill>
            </a:endParaRPr>
          </a:p>
        </p:txBody>
      </p:sp>
      <p:sp>
        <p:nvSpPr>
          <p:cNvPr id="7" name="Subtitle 2"/>
          <p:cNvSpPr>
            <a:spLocks noGrp="1"/>
          </p:cNvSpPr>
          <p:nvPr>
            <p:ph type="subTitle" idx="1"/>
          </p:nvPr>
        </p:nvSpPr>
        <p:spPr>
          <a:xfrm>
            <a:off x="342900" y="2514600"/>
            <a:ext cx="8458200" cy="4191000"/>
          </a:xfrm>
        </p:spPr>
        <p:txBody>
          <a:bodyPr/>
          <a:lstStyle/>
          <a:p>
            <a:r>
              <a:rPr lang="en-US" b="1" dirty="0">
                <a:solidFill>
                  <a:srgbClr val="002060"/>
                </a:solidFill>
                <a:latin typeface="Times New Roman" pitchFamily="18" charset="0"/>
                <a:cs typeface="Times New Roman" pitchFamily="18" charset="0"/>
              </a:rPr>
              <a:t>Presented By:</a:t>
            </a:r>
          </a:p>
          <a:p>
            <a:r>
              <a:rPr lang="en-US" sz="2400" b="1" dirty="0" smtClean="0">
                <a:solidFill>
                  <a:srgbClr val="002060"/>
                </a:solidFill>
                <a:latin typeface="Times New Roman" pitchFamily="18" charset="0"/>
                <a:cs typeface="Times New Roman" pitchFamily="18" charset="0"/>
              </a:rPr>
              <a:t>MEENAKSHI SARKAR </a:t>
            </a:r>
            <a:r>
              <a:rPr lang="en-US" sz="2400" b="1" dirty="0">
                <a:solidFill>
                  <a:srgbClr val="002060"/>
                </a:solidFill>
                <a:latin typeface="Times New Roman" pitchFamily="18" charset="0"/>
                <a:cs typeface="Times New Roman" pitchFamily="18" charset="0"/>
              </a:rPr>
              <a:t>: University Roll No – </a:t>
            </a:r>
            <a:r>
              <a:rPr lang="en-US" sz="2400" b="1" dirty="0" smtClean="0">
                <a:solidFill>
                  <a:srgbClr val="002060"/>
                </a:solidFill>
                <a:latin typeface="Times New Roman" pitchFamily="18" charset="0"/>
                <a:cs typeface="Times New Roman" pitchFamily="18" charset="0"/>
              </a:rPr>
              <a:t>21301221088</a:t>
            </a:r>
            <a:endParaRPr lang="en-US" sz="2400" b="1" dirty="0">
              <a:solidFill>
                <a:srgbClr val="002060"/>
              </a:solidFill>
              <a:latin typeface="Times New Roman" pitchFamily="18" charset="0"/>
              <a:cs typeface="Times New Roman" pitchFamily="18" charset="0"/>
            </a:endParaRPr>
          </a:p>
          <a:p>
            <a:r>
              <a:rPr lang="en-US" sz="2400" b="1" dirty="0" smtClean="0">
                <a:solidFill>
                  <a:srgbClr val="002060"/>
                </a:solidFill>
                <a:latin typeface="Times New Roman" pitchFamily="18" charset="0"/>
                <a:cs typeface="Times New Roman" pitchFamily="18" charset="0"/>
              </a:rPr>
              <a:t>PURTI KOCHAR </a:t>
            </a:r>
            <a:r>
              <a:rPr lang="en-US" sz="2400" b="1" dirty="0">
                <a:solidFill>
                  <a:srgbClr val="002060"/>
                </a:solidFill>
                <a:latin typeface="Times New Roman" pitchFamily="18" charset="0"/>
                <a:cs typeface="Times New Roman" pitchFamily="18" charset="0"/>
              </a:rPr>
              <a:t>: University Roll No – </a:t>
            </a:r>
            <a:r>
              <a:rPr lang="en-US" sz="2400" b="1" dirty="0" smtClean="0">
                <a:solidFill>
                  <a:srgbClr val="002060"/>
                </a:solidFill>
                <a:latin typeface="Times New Roman" pitchFamily="18" charset="0"/>
                <a:cs typeface="Times New Roman" pitchFamily="18" charset="0"/>
              </a:rPr>
              <a:t>21301221081</a:t>
            </a:r>
            <a:endParaRPr lang="en-US" sz="2400" b="1" dirty="0">
              <a:solidFill>
                <a:srgbClr val="002060"/>
              </a:solidFill>
              <a:latin typeface="Times New Roman" pitchFamily="18" charset="0"/>
              <a:cs typeface="Times New Roman" pitchFamily="18" charset="0"/>
            </a:endParaRPr>
          </a:p>
          <a:p>
            <a:r>
              <a:rPr lang="en-US" sz="2400" b="1" dirty="0" smtClean="0">
                <a:solidFill>
                  <a:srgbClr val="002060"/>
                </a:solidFill>
                <a:latin typeface="Times New Roman" pitchFamily="18" charset="0"/>
                <a:cs typeface="Times New Roman" pitchFamily="18" charset="0"/>
              </a:rPr>
              <a:t>ANKIT ROY </a:t>
            </a:r>
            <a:r>
              <a:rPr lang="en-US" sz="2400" b="1" dirty="0">
                <a:solidFill>
                  <a:srgbClr val="002060"/>
                </a:solidFill>
                <a:latin typeface="Times New Roman" pitchFamily="18" charset="0"/>
                <a:cs typeface="Times New Roman" pitchFamily="18" charset="0"/>
              </a:rPr>
              <a:t>: University Roll No – </a:t>
            </a:r>
            <a:r>
              <a:rPr lang="en-US" sz="2400" b="1" dirty="0" smtClean="0">
                <a:solidFill>
                  <a:srgbClr val="002060"/>
                </a:solidFill>
                <a:latin typeface="Times New Roman" pitchFamily="18" charset="0"/>
                <a:cs typeface="Times New Roman" pitchFamily="18" charset="0"/>
              </a:rPr>
              <a:t>21301221085</a:t>
            </a:r>
            <a:endParaRPr lang="en-US" sz="2400" b="1" dirty="0">
              <a:solidFill>
                <a:srgbClr val="002060"/>
              </a:solidFill>
              <a:latin typeface="Times New Roman" pitchFamily="18" charset="0"/>
              <a:cs typeface="Times New Roman" pitchFamily="18" charset="0"/>
            </a:endParaRPr>
          </a:p>
          <a:p>
            <a:endParaRPr lang="en-US" sz="800" b="1" dirty="0">
              <a:solidFill>
                <a:srgbClr val="002060"/>
              </a:solidFill>
              <a:latin typeface="Times New Roman" pitchFamily="18" charset="0"/>
              <a:cs typeface="Times New Roman" pitchFamily="18" charset="0"/>
            </a:endParaRPr>
          </a:p>
          <a:p>
            <a:endParaRPr lang="en-US" sz="800" b="1" dirty="0">
              <a:solidFill>
                <a:srgbClr val="002060"/>
              </a:solidFill>
              <a:latin typeface="Times New Roman" pitchFamily="18" charset="0"/>
              <a:cs typeface="Times New Roman" pitchFamily="18" charset="0"/>
            </a:endParaRPr>
          </a:p>
          <a:p>
            <a:r>
              <a:rPr lang="en-US" b="1" dirty="0">
                <a:solidFill>
                  <a:srgbClr val="002060"/>
                </a:solidFill>
                <a:latin typeface="Times New Roman" pitchFamily="18" charset="0"/>
                <a:cs typeface="Times New Roman" pitchFamily="18" charset="0"/>
              </a:rPr>
              <a:t>THE HERITAGE ACADEMY</a:t>
            </a:r>
          </a:p>
          <a:p>
            <a:endParaRPr lang="en-US" sz="1200" b="1" dirty="0">
              <a:solidFill>
                <a:srgbClr val="002060"/>
              </a:solidFill>
              <a:latin typeface="Times New Roman" pitchFamily="18" charset="0"/>
              <a:cs typeface="Times New Roman" pitchFamily="18" charset="0"/>
            </a:endParaRPr>
          </a:p>
          <a:p>
            <a:endParaRPr lang="en-US" sz="1200" b="1" dirty="0">
              <a:solidFill>
                <a:srgbClr val="002060"/>
              </a:solidFill>
              <a:latin typeface="Times New Roman" pitchFamily="18" charset="0"/>
              <a:cs typeface="Times New Roman" pitchFamily="18" charset="0"/>
            </a:endParaRPr>
          </a:p>
          <a:p>
            <a:r>
              <a:rPr lang="en-US" b="1" dirty="0">
                <a:solidFill>
                  <a:srgbClr val="002060"/>
                </a:solidFill>
                <a:latin typeface="Times New Roman" pitchFamily="18" charset="0"/>
                <a:cs typeface="Times New Roman" pitchFamily="18" charset="0"/>
              </a:rPr>
              <a:t>10</a:t>
            </a:r>
            <a:r>
              <a:rPr lang="en-US" b="1" baseline="30000" dirty="0">
                <a:solidFill>
                  <a:srgbClr val="002060"/>
                </a:solidFill>
                <a:latin typeface="Times New Roman" pitchFamily="18" charset="0"/>
                <a:cs typeface="Times New Roman" pitchFamily="18" charset="0"/>
              </a:rPr>
              <a:t>TH</a:t>
            </a:r>
            <a:r>
              <a:rPr lang="en-US" b="1" dirty="0">
                <a:solidFill>
                  <a:srgbClr val="002060"/>
                </a:solidFill>
                <a:latin typeface="Times New Roman" pitchFamily="18" charset="0"/>
                <a:cs typeface="Times New Roman" pitchFamily="18" charset="0"/>
              </a:rPr>
              <a:t> AUGUST 2023</a:t>
            </a: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685799"/>
          </a:xfrm>
        </p:spPr>
        <p:txBody>
          <a:bodyPr/>
          <a:lstStyle/>
          <a:p>
            <a:r>
              <a:rPr lang="en-US" u="sng" dirty="0" smtClean="0">
                <a:solidFill>
                  <a:schemeClr val="tx2"/>
                </a:solidFill>
                <a:latin typeface="Copperplate Gothic Bold" pitchFamily="34" charset="0"/>
              </a:rPr>
              <a:t>INTRODUCTION</a:t>
            </a:r>
            <a:endParaRPr lang="en-IN" u="sng" dirty="0">
              <a:solidFill>
                <a:schemeClr val="tx2"/>
              </a:solidFill>
              <a:latin typeface="Copperplate Gothic Bold" pitchFamily="34" charset="0"/>
            </a:endParaRPr>
          </a:p>
        </p:txBody>
      </p:sp>
      <p:sp>
        <p:nvSpPr>
          <p:cNvPr id="3" name="Subtitle 2"/>
          <p:cNvSpPr>
            <a:spLocks noGrp="1"/>
          </p:cNvSpPr>
          <p:nvPr>
            <p:ph type="subTitle" idx="1"/>
          </p:nvPr>
        </p:nvSpPr>
        <p:spPr>
          <a:xfrm>
            <a:off x="381000" y="1371600"/>
            <a:ext cx="8458200" cy="4876800"/>
          </a:xfrm>
        </p:spPr>
        <p:txBody>
          <a:bodyPr/>
          <a:lstStyle/>
          <a:p>
            <a:pPr algn="l"/>
            <a:endParaRPr lang="en-US" sz="2200" b="1" dirty="0" smtClean="0">
              <a:solidFill>
                <a:schemeClr val="tx1"/>
              </a:solidFill>
              <a:latin typeface="Times New Roman" pitchFamily="18" charset="0"/>
              <a:cs typeface="Times New Roman" pitchFamily="18" charset="0"/>
            </a:endParaRPr>
          </a:p>
          <a:p>
            <a:pPr algn="l"/>
            <a:r>
              <a:rPr lang="en-US" sz="2200" b="1" dirty="0" smtClean="0">
                <a:solidFill>
                  <a:schemeClr val="tx1"/>
                </a:solidFill>
                <a:latin typeface="Times New Roman" pitchFamily="18" charset="0"/>
                <a:cs typeface="Times New Roman" pitchFamily="18" charset="0"/>
              </a:rPr>
              <a:t>Binary Search </a:t>
            </a:r>
            <a:r>
              <a:rPr lang="en-US" sz="2200" dirty="0">
                <a:solidFill>
                  <a:schemeClr val="tx1"/>
                </a:solidFill>
                <a:latin typeface="Times New Roman" pitchFamily="18" charset="0"/>
                <a:cs typeface="Times New Roman" pitchFamily="18" charset="0"/>
              </a:rPr>
              <a:t>is the search technique that works efficiently on sorted lists. Hence, to search an element into some list using the binary search technique, we must ensure that the list is sorted.</a:t>
            </a:r>
          </a:p>
          <a:p>
            <a:pPr algn="l"/>
            <a:endParaRPr lang="en-US" sz="2200" b="1" dirty="0" smtClean="0">
              <a:solidFill>
                <a:schemeClr val="tx1"/>
              </a:solidFill>
              <a:latin typeface="Times New Roman" pitchFamily="18" charset="0"/>
              <a:cs typeface="Times New Roman" pitchFamily="18" charset="0"/>
            </a:endParaRPr>
          </a:p>
          <a:p>
            <a:pPr algn="l"/>
            <a:r>
              <a:rPr lang="en-US" sz="2200" b="1" dirty="0" smtClean="0">
                <a:solidFill>
                  <a:schemeClr val="tx1"/>
                </a:solidFill>
                <a:latin typeface="Times New Roman" pitchFamily="18" charset="0"/>
                <a:cs typeface="Times New Roman" pitchFamily="18" charset="0"/>
              </a:rPr>
              <a:t>Recursive Binary </a:t>
            </a:r>
            <a:r>
              <a:rPr lang="en-US" sz="2200" b="1" dirty="0">
                <a:solidFill>
                  <a:schemeClr val="tx1"/>
                </a:solidFill>
                <a:latin typeface="Times New Roman" pitchFamily="18" charset="0"/>
                <a:cs typeface="Times New Roman" pitchFamily="18" charset="0"/>
              </a:rPr>
              <a:t>S</a:t>
            </a:r>
            <a:r>
              <a:rPr lang="en-US" sz="2200" b="1" dirty="0" smtClean="0">
                <a:solidFill>
                  <a:schemeClr val="tx1"/>
                </a:solidFill>
                <a:latin typeface="Times New Roman" pitchFamily="18" charset="0"/>
                <a:cs typeface="Times New Roman" pitchFamily="18" charset="0"/>
              </a:rPr>
              <a:t>earch </a:t>
            </a:r>
            <a:r>
              <a:rPr lang="en-US" sz="2200" dirty="0">
                <a:solidFill>
                  <a:schemeClr val="tx1"/>
                </a:solidFill>
                <a:latin typeface="Times New Roman" pitchFamily="18" charset="0"/>
                <a:cs typeface="Times New Roman" pitchFamily="18" charset="0"/>
              </a:rPr>
              <a:t>is an implementation of the binary search algorithm that uses recursive method calls (instead of iteratively searching for the item within a single method call</a:t>
            </a:r>
            <a:r>
              <a:rPr lang="en-US" sz="2200" dirty="0" smtClean="0">
                <a:solidFill>
                  <a:schemeClr val="tx1"/>
                </a:solidFill>
                <a:latin typeface="Times New Roman" pitchFamily="18" charset="0"/>
                <a:cs typeface="Times New Roman" pitchFamily="18" charset="0"/>
              </a:rPr>
              <a:t>). [1]</a:t>
            </a:r>
            <a:endParaRPr lang="en-IN" sz="2200" dirty="0">
              <a:solidFill>
                <a:schemeClr val="tx1"/>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MAULANA  ABUL KALAM AZAD UNIVERSITY OF TECHNOLOGY</a:t>
            </a:r>
            <a:endParaRPr lang="en-US" dirty="0"/>
          </a:p>
        </p:txBody>
      </p:sp>
      <p:sp>
        <p:nvSpPr>
          <p:cNvPr id="5" name="Slide Number Placeholder 4"/>
          <p:cNvSpPr>
            <a:spLocks noGrp="1"/>
          </p:cNvSpPr>
          <p:nvPr>
            <p:ph type="sldNum" sz="quarter" idx="12"/>
          </p:nvPr>
        </p:nvSpPr>
        <p:spPr/>
        <p:txBody>
          <a:bodyPr/>
          <a:lstStyle/>
          <a:p>
            <a:r>
              <a:rPr lang="en-US" smtClean="0"/>
              <a:t>CA-1: BCAD501B</a:t>
            </a:r>
            <a:endParaRPr lang="en-US" dirty="0"/>
          </a:p>
        </p:txBody>
      </p:sp>
    </p:spTree>
    <p:extLst>
      <p:ext uri="{BB962C8B-B14F-4D97-AF65-F5344CB8AC3E}">
        <p14:creationId xmlns:p14="http://schemas.microsoft.com/office/powerpoint/2010/main" val="1900533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85801"/>
            <a:ext cx="8458200" cy="838199"/>
          </a:xfrm>
        </p:spPr>
        <p:txBody>
          <a:bodyPr>
            <a:noAutofit/>
          </a:bodyPr>
          <a:lstStyle/>
          <a:p>
            <a:r>
              <a:rPr lang="en-US" sz="3400" u="sng" dirty="0" smtClean="0">
                <a:solidFill>
                  <a:schemeClr val="tx2"/>
                </a:solidFill>
                <a:latin typeface="Copperplate Gothic Bold" pitchFamily="34" charset="0"/>
              </a:rPr>
              <a:t>THE </a:t>
            </a:r>
            <a:r>
              <a:rPr lang="en-US" sz="3400" u="sng" dirty="0">
                <a:solidFill>
                  <a:schemeClr val="tx2"/>
                </a:solidFill>
                <a:latin typeface="Copperplate Gothic Bold" pitchFamily="34" charset="0"/>
              </a:rPr>
              <a:t>ALGORITHM</a:t>
            </a:r>
            <a:endParaRPr lang="en-IN" sz="3400" u="sng" dirty="0">
              <a:solidFill>
                <a:schemeClr val="tx2"/>
              </a:solidFill>
              <a:latin typeface="Copperplate Gothic Bold" pitchFamily="34" charset="0"/>
            </a:endParaRPr>
          </a:p>
        </p:txBody>
      </p:sp>
      <p:sp>
        <p:nvSpPr>
          <p:cNvPr id="3" name="Subtitle 2"/>
          <p:cNvSpPr>
            <a:spLocks noGrp="1"/>
          </p:cNvSpPr>
          <p:nvPr>
            <p:ph type="subTitle" idx="1"/>
          </p:nvPr>
        </p:nvSpPr>
        <p:spPr>
          <a:xfrm>
            <a:off x="381000" y="1600200"/>
            <a:ext cx="8458200" cy="5257800"/>
          </a:xfrm>
        </p:spPr>
        <p:txBody>
          <a:bodyPr/>
          <a:lstStyle/>
          <a:p>
            <a:pPr algn="l"/>
            <a:r>
              <a:rPr lang="en-US" sz="1600" dirty="0" smtClean="0">
                <a:solidFill>
                  <a:schemeClr val="tx1"/>
                </a:solidFill>
                <a:cs typeface="Times New Roman" pitchFamily="18" charset="0"/>
              </a:rPr>
              <a:t>Algorithm</a:t>
            </a:r>
            <a:r>
              <a:rPr lang="en-US" sz="1600" dirty="0" smtClean="0">
                <a:solidFill>
                  <a:schemeClr val="tx1"/>
                </a:solidFill>
                <a:cs typeface="Times New Roman" pitchFamily="18" charset="0"/>
              </a:rPr>
              <a:t> </a:t>
            </a:r>
            <a:r>
              <a:rPr lang="en-US" sz="1600" dirty="0">
                <a:solidFill>
                  <a:schemeClr val="tx1"/>
                </a:solidFill>
                <a:cs typeface="Times New Roman" pitchFamily="18" charset="0"/>
              </a:rPr>
              <a:t>recursive_binary_search(</a:t>
            </a:r>
            <a:r>
              <a:rPr lang="en-US" sz="1600" dirty="0" err="1">
                <a:solidFill>
                  <a:schemeClr val="tx1"/>
                </a:solidFill>
                <a:cs typeface="Times New Roman" pitchFamily="18" charset="0"/>
              </a:rPr>
              <a:t>arr</a:t>
            </a:r>
            <a:r>
              <a:rPr lang="en-US" sz="1600" dirty="0">
                <a:solidFill>
                  <a:schemeClr val="tx1"/>
                </a:solidFill>
                <a:cs typeface="Times New Roman" pitchFamily="18" charset="0"/>
              </a:rPr>
              <a:t>, </a:t>
            </a:r>
            <a:r>
              <a:rPr lang="en-US" sz="1600" dirty="0">
                <a:solidFill>
                  <a:schemeClr val="tx1"/>
                </a:solidFill>
                <a:cs typeface="Times New Roman" pitchFamily="18" charset="0"/>
              </a:rPr>
              <a:t>x</a:t>
            </a:r>
            <a:r>
              <a:rPr lang="en-US" sz="1600" dirty="0" smtClean="0">
                <a:solidFill>
                  <a:schemeClr val="tx1"/>
                </a:solidFill>
                <a:cs typeface="Times New Roman" pitchFamily="18" charset="0"/>
              </a:rPr>
              <a:t>, </a:t>
            </a:r>
            <a:r>
              <a:rPr lang="en-US" sz="1600" dirty="0">
                <a:solidFill>
                  <a:schemeClr val="tx1"/>
                </a:solidFill>
                <a:cs typeface="Times New Roman" pitchFamily="18" charset="0"/>
              </a:rPr>
              <a:t>low, high</a:t>
            </a:r>
            <a:r>
              <a:rPr lang="en-US" sz="1600" dirty="0" smtClean="0">
                <a:solidFill>
                  <a:schemeClr val="tx1"/>
                </a:solidFill>
                <a:cs typeface="Times New Roman" pitchFamily="18" charset="0"/>
              </a:rPr>
              <a:t>):</a:t>
            </a:r>
          </a:p>
          <a:p>
            <a:pPr algn="l"/>
            <a:r>
              <a:rPr lang="en-US" sz="1600" dirty="0">
                <a:solidFill>
                  <a:schemeClr val="tx1"/>
                </a:solidFill>
                <a:cs typeface="Times New Roman" pitchFamily="18" charset="0"/>
              </a:rPr>
              <a:t>{</a:t>
            </a:r>
            <a:endParaRPr lang="en-US" sz="1600" dirty="0" smtClean="0">
              <a:solidFill>
                <a:schemeClr val="tx1"/>
              </a:solidFill>
              <a:cs typeface="Times New Roman" pitchFamily="18" charset="0"/>
            </a:endParaRPr>
          </a:p>
          <a:p>
            <a:pPr algn="l"/>
            <a:r>
              <a:rPr lang="en-US" sz="1600" dirty="0">
                <a:solidFill>
                  <a:schemeClr val="tx1"/>
                </a:solidFill>
                <a:cs typeface="Times New Roman" pitchFamily="18" charset="0"/>
              </a:rPr>
              <a:t> </a:t>
            </a:r>
            <a:r>
              <a:rPr lang="en-US" sz="1600" dirty="0" smtClean="0">
                <a:solidFill>
                  <a:schemeClr val="tx1"/>
                </a:solidFill>
                <a:cs typeface="Times New Roman" pitchFamily="18" charset="0"/>
              </a:rPr>
              <a:t>      if </a:t>
            </a:r>
            <a:r>
              <a:rPr lang="en-US" sz="1600" dirty="0">
                <a:solidFill>
                  <a:schemeClr val="tx1"/>
                </a:solidFill>
                <a:cs typeface="Times New Roman" pitchFamily="18" charset="0"/>
              </a:rPr>
              <a:t>low </a:t>
            </a:r>
            <a:r>
              <a:rPr lang="en-US" sz="1600" dirty="0" smtClean="0">
                <a:solidFill>
                  <a:schemeClr val="tx1"/>
                </a:solidFill>
                <a:cs typeface="Times New Roman" pitchFamily="18" charset="0"/>
              </a:rPr>
              <a:t>&lt;= </a:t>
            </a:r>
            <a:r>
              <a:rPr lang="en-US" sz="1600" dirty="0">
                <a:solidFill>
                  <a:schemeClr val="tx1"/>
                </a:solidFill>
                <a:cs typeface="Times New Roman" pitchFamily="18" charset="0"/>
              </a:rPr>
              <a:t>high</a:t>
            </a:r>
            <a:r>
              <a:rPr lang="en-US" sz="1600" dirty="0" smtClean="0">
                <a:solidFill>
                  <a:schemeClr val="tx1"/>
                </a:solidFill>
                <a:cs typeface="Times New Roman" pitchFamily="18" charset="0"/>
              </a:rPr>
              <a:t>:</a:t>
            </a:r>
          </a:p>
          <a:p>
            <a:pPr algn="l"/>
            <a:r>
              <a:rPr lang="en-US" sz="1600" dirty="0" smtClean="0">
                <a:solidFill>
                  <a:schemeClr val="tx1"/>
                </a:solidFill>
                <a:cs typeface="Times New Roman" pitchFamily="18" charset="0"/>
              </a:rPr>
              <a:t>          mid </a:t>
            </a:r>
            <a:r>
              <a:rPr lang="en-US" sz="1600" dirty="0">
                <a:solidFill>
                  <a:schemeClr val="tx1"/>
                </a:solidFill>
                <a:cs typeface="Times New Roman" pitchFamily="18" charset="0"/>
              </a:rPr>
              <a:t>= (low + high) // 2 </a:t>
            </a:r>
            <a:endParaRPr lang="en-US" sz="1600" dirty="0" smtClean="0">
              <a:solidFill>
                <a:schemeClr val="tx1"/>
              </a:solidFill>
              <a:cs typeface="Times New Roman" pitchFamily="18" charset="0"/>
            </a:endParaRPr>
          </a:p>
          <a:p>
            <a:pPr algn="l"/>
            <a:r>
              <a:rPr lang="en-US" sz="1600" dirty="0" smtClean="0">
                <a:solidFill>
                  <a:schemeClr val="tx1"/>
                </a:solidFill>
                <a:cs typeface="Times New Roman" pitchFamily="18" charset="0"/>
              </a:rPr>
              <a:t>          if </a:t>
            </a:r>
            <a:r>
              <a:rPr lang="en-US" sz="1600" dirty="0" err="1">
                <a:solidFill>
                  <a:schemeClr val="tx1"/>
                </a:solidFill>
                <a:cs typeface="Times New Roman" pitchFamily="18" charset="0"/>
              </a:rPr>
              <a:t>arr</a:t>
            </a:r>
            <a:r>
              <a:rPr lang="en-US" sz="1600" dirty="0">
                <a:solidFill>
                  <a:schemeClr val="tx1"/>
                </a:solidFill>
                <a:cs typeface="Times New Roman" pitchFamily="18" charset="0"/>
              </a:rPr>
              <a:t>[mid] == </a:t>
            </a:r>
            <a:r>
              <a:rPr lang="en-US" sz="1600" dirty="0">
                <a:solidFill>
                  <a:schemeClr val="tx1"/>
                </a:solidFill>
                <a:cs typeface="Times New Roman" pitchFamily="18" charset="0"/>
              </a:rPr>
              <a:t>x</a:t>
            </a:r>
            <a:r>
              <a:rPr lang="en-US" sz="1600" dirty="0" smtClean="0">
                <a:solidFill>
                  <a:schemeClr val="tx1"/>
                </a:solidFill>
                <a:cs typeface="Times New Roman" pitchFamily="18" charset="0"/>
              </a:rPr>
              <a:t>: </a:t>
            </a:r>
            <a:endParaRPr lang="en-US" sz="1600" dirty="0" smtClean="0">
              <a:solidFill>
                <a:schemeClr val="tx1"/>
              </a:solidFill>
              <a:cs typeface="Times New Roman" pitchFamily="18" charset="0"/>
            </a:endParaRPr>
          </a:p>
          <a:p>
            <a:pPr algn="l"/>
            <a:r>
              <a:rPr lang="en-US" sz="1600" dirty="0">
                <a:solidFill>
                  <a:schemeClr val="tx1"/>
                </a:solidFill>
                <a:cs typeface="Times New Roman" pitchFamily="18" charset="0"/>
              </a:rPr>
              <a:t>	</a:t>
            </a:r>
            <a:r>
              <a:rPr lang="en-US" sz="1600" dirty="0" smtClean="0">
                <a:solidFill>
                  <a:schemeClr val="tx1"/>
                </a:solidFill>
                <a:cs typeface="Times New Roman" pitchFamily="18" charset="0"/>
              </a:rPr>
              <a:t>return </a:t>
            </a:r>
            <a:r>
              <a:rPr lang="en-US" sz="1600" dirty="0">
                <a:solidFill>
                  <a:schemeClr val="tx1"/>
                </a:solidFill>
                <a:cs typeface="Times New Roman" pitchFamily="18" charset="0"/>
              </a:rPr>
              <a:t>mid </a:t>
            </a:r>
            <a:r>
              <a:rPr lang="en-US" sz="1600" dirty="0">
                <a:solidFill>
                  <a:schemeClr val="tx2">
                    <a:lumMod val="60000"/>
                    <a:lumOff val="40000"/>
                  </a:schemeClr>
                </a:solidFill>
                <a:cs typeface="Times New Roman" pitchFamily="18" charset="0"/>
              </a:rPr>
              <a:t># Target found at index mid </a:t>
            </a:r>
            <a:endParaRPr lang="en-US" sz="1600" dirty="0" smtClean="0">
              <a:solidFill>
                <a:schemeClr val="tx2">
                  <a:lumMod val="60000"/>
                  <a:lumOff val="40000"/>
                </a:schemeClr>
              </a:solidFill>
              <a:cs typeface="Times New Roman" pitchFamily="18" charset="0"/>
            </a:endParaRPr>
          </a:p>
          <a:p>
            <a:pPr algn="l"/>
            <a:r>
              <a:rPr lang="en-US" sz="1600" dirty="0" smtClean="0">
                <a:solidFill>
                  <a:schemeClr val="tx1"/>
                </a:solidFill>
                <a:cs typeface="Times New Roman" pitchFamily="18" charset="0"/>
              </a:rPr>
              <a:t>          </a:t>
            </a:r>
            <a:r>
              <a:rPr lang="en-US" sz="1600" dirty="0" smtClean="0">
                <a:solidFill>
                  <a:schemeClr val="tx1"/>
                </a:solidFill>
                <a:cs typeface="Times New Roman" pitchFamily="18" charset="0"/>
              </a:rPr>
              <a:t>else if </a:t>
            </a:r>
            <a:r>
              <a:rPr lang="en-US" sz="1600" dirty="0" err="1">
                <a:solidFill>
                  <a:schemeClr val="tx1"/>
                </a:solidFill>
                <a:cs typeface="Times New Roman" pitchFamily="18" charset="0"/>
              </a:rPr>
              <a:t>arr</a:t>
            </a:r>
            <a:r>
              <a:rPr lang="en-US" sz="1600" dirty="0">
                <a:solidFill>
                  <a:schemeClr val="tx1"/>
                </a:solidFill>
                <a:cs typeface="Times New Roman" pitchFamily="18" charset="0"/>
              </a:rPr>
              <a:t>[mid] &lt; </a:t>
            </a:r>
            <a:r>
              <a:rPr lang="en-US" sz="1600" dirty="0">
                <a:solidFill>
                  <a:schemeClr val="tx1"/>
                </a:solidFill>
                <a:cs typeface="Times New Roman" pitchFamily="18" charset="0"/>
              </a:rPr>
              <a:t>x</a:t>
            </a:r>
            <a:r>
              <a:rPr lang="en-US" sz="1600" dirty="0" smtClean="0">
                <a:solidFill>
                  <a:schemeClr val="tx1"/>
                </a:solidFill>
                <a:cs typeface="Times New Roman" pitchFamily="18" charset="0"/>
              </a:rPr>
              <a:t>: </a:t>
            </a:r>
            <a:endParaRPr lang="en-US" sz="1600" dirty="0" smtClean="0">
              <a:solidFill>
                <a:schemeClr val="tx1"/>
              </a:solidFill>
              <a:cs typeface="Times New Roman" pitchFamily="18" charset="0"/>
            </a:endParaRPr>
          </a:p>
          <a:p>
            <a:pPr algn="l"/>
            <a:r>
              <a:rPr lang="en-US" sz="1600" dirty="0">
                <a:solidFill>
                  <a:schemeClr val="tx1"/>
                </a:solidFill>
                <a:cs typeface="Times New Roman" pitchFamily="18" charset="0"/>
              </a:rPr>
              <a:t>	</a:t>
            </a:r>
            <a:r>
              <a:rPr lang="en-US" sz="1600" dirty="0" smtClean="0">
                <a:solidFill>
                  <a:schemeClr val="tx1"/>
                </a:solidFill>
                <a:cs typeface="Times New Roman" pitchFamily="18" charset="0"/>
              </a:rPr>
              <a:t>return </a:t>
            </a:r>
            <a:r>
              <a:rPr lang="en-US" sz="1600" dirty="0" err="1">
                <a:solidFill>
                  <a:schemeClr val="tx1"/>
                </a:solidFill>
                <a:cs typeface="Times New Roman" pitchFamily="18" charset="0"/>
              </a:rPr>
              <a:t>recursive_binary_search</a:t>
            </a:r>
            <a:r>
              <a:rPr lang="en-US" sz="1600" dirty="0">
                <a:solidFill>
                  <a:schemeClr val="tx1"/>
                </a:solidFill>
                <a:cs typeface="Times New Roman" pitchFamily="18" charset="0"/>
              </a:rPr>
              <a:t>(</a:t>
            </a:r>
            <a:r>
              <a:rPr lang="en-US" sz="1600" dirty="0" err="1">
                <a:solidFill>
                  <a:schemeClr val="tx1"/>
                </a:solidFill>
                <a:cs typeface="Times New Roman" pitchFamily="18" charset="0"/>
              </a:rPr>
              <a:t>arr</a:t>
            </a:r>
            <a:r>
              <a:rPr lang="en-US" sz="1600" dirty="0">
                <a:solidFill>
                  <a:schemeClr val="tx1"/>
                </a:solidFill>
                <a:cs typeface="Times New Roman" pitchFamily="18" charset="0"/>
              </a:rPr>
              <a:t>, target, mid + 1, high) </a:t>
            </a:r>
            <a:r>
              <a:rPr lang="en-US" sz="1600" dirty="0">
                <a:solidFill>
                  <a:schemeClr val="tx2">
                    <a:lumMod val="60000"/>
                    <a:lumOff val="40000"/>
                  </a:schemeClr>
                </a:solidFill>
                <a:cs typeface="Times New Roman" pitchFamily="18" charset="0"/>
              </a:rPr>
              <a:t># Search in the right half </a:t>
            </a:r>
            <a:endParaRPr lang="en-US" sz="1600" dirty="0" smtClean="0">
              <a:solidFill>
                <a:schemeClr val="tx2">
                  <a:lumMod val="60000"/>
                  <a:lumOff val="40000"/>
                </a:schemeClr>
              </a:solidFill>
              <a:cs typeface="Times New Roman" pitchFamily="18" charset="0"/>
            </a:endParaRPr>
          </a:p>
          <a:p>
            <a:pPr algn="l"/>
            <a:r>
              <a:rPr lang="en-US" sz="1600" dirty="0" smtClean="0">
                <a:solidFill>
                  <a:schemeClr val="tx1"/>
                </a:solidFill>
                <a:cs typeface="Times New Roman" pitchFamily="18" charset="0"/>
              </a:rPr>
              <a:t>          else</a:t>
            </a:r>
            <a:r>
              <a:rPr lang="en-US" sz="1600" dirty="0">
                <a:solidFill>
                  <a:schemeClr val="tx1"/>
                </a:solidFill>
                <a:cs typeface="Times New Roman" pitchFamily="18" charset="0"/>
              </a:rPr>
              <a:t>: </a:t>
            </a:r>
            <a:endParaRPr lang="en-US" sz="1600" dirty="0" smtClean="0">
              <a:solidFill>
                <a:schemeClr val="tx1"/>
              </a:solidFill>
              <a:cs typeface="Times New Roman" pitchFamily="18" charset="0"/>
            </a:endParaRPr>
          </a:p>
          <a:p>
            <a:pPr algn="l"/>
            <a:r>
              <a:rPr lang="en-US" sz="1600" dirty="0">
                <a:solidFill>
                  <a:schemeClr val="tx1"/>
                </a:solidFill>
                <a:cs typeface="Times New Roman" pitchFamily="18" charset="0"/>
              </a:rPr>
              <a:t>	</a:t>
            </a:r>
            <a:r>
              <a:rPr lang="en-US" sz="1600" dirty="0" smtClean="0">
                <a:solidFill>
                  <a:schemeClr val="tx1"/>
                </a:solidFill>
                <a:cs typeface="Times New Roman" pitchFamily="18" charset="0"/>
              </a:rPr>
              <a:t>return </a:t>
            </a:r>
            <a:r>
              <a:rPr lang="en-US" sz="1600" dirty="0" err="1">
                <a:solidFill>
                  <a:schemeClr val="tx1"/>
                </a:solidFill>
                <a:cs typeface="Times New Roman" pitchFamily="18" charset="0"/>
              </a:rPr>
              <a:t>recursive_binary_search</a:t>
            </a:r>
            <a:r>
              <a:rPr lang="en-US" sz="1600" dirty="0">
                <a:solidFill>
                  <a:schemeClr val="tx1"/>
                </a:solidFill>
                <a:cs typeface="Times New Roman" pitchFamily="18" charset="0"/>
              </a:rPr>
              <a:t>(</a:t>
            </a:r>
            <a:r>
              <a:rPr lang="en-US" sz="1600" dirty="0" err="1">
                <a:solidFill>
                  <a:schemeClr val="tx1"/>
                </a:solidFill>
                <a:cs typeface="Times New Roman" pitchFamily="18" charset="0"/>
              </a:rPr>
              <a:t>arr</a:t>
            </a:r>
            <a:r>
              <a:rPr lang="en-US" sz="1600" dirty="0">
                <a:solidFill>
                  <a:schemeClr val="tx1"/>
                </a:solidFill>
                <a:cs typeface="Times New Roman" pitchFamily="18" charset="0"/>
              </a:rPr>
              <a:t>, target, low, mid - 1) </a:t>
            </a:r>
            <a:r>
              <a:rPr lang="en-US" sz="1600" dirty="0">
                <a:solidFill>
                  <a:schemeClr val="tx2">
                    <a:lumMod val="60000"/>
                    <a:lumOff val="40000"/>
                  </a:schemeClr>
                </a:solidFill>
                <a:cs typeface="Times New Roman" pitchFamily="18" charset="0"/>
              </a:rPr>
              <a:t># Search in the left half </a:t>
            </a:r>
            <a:endParaRPr lang="en-US" sz="1600" dirty="0" smtClean="0">
              <a:solidFill>
                <a:schemeClr val="tx2">
                  <a:lumMod val="60000"/>
                  <a:lumOff val="40000"/>
                </a:schemeClr>
              </a:solidFill>
              <a:cs typeface="Times New Roman" pitchFamily="18" charset="0"/>
            </a:endParaRPr>
          </a:p>
          <a:p>
            <a:pPr algn="l"/>
            <a:r>
              <a:rPr lang="en-US" sz="1600" dirty="0" smtClean="0">
                <a:solidFill>
                  <a:schemeClr val="tx1"/>
                </a:solidFill>
                <a:cs typeface="Times New Roman" pitchFamily="18" charset="0"/>
              </a:rPr>
              <a:t>      else</a:t>
            </a:r>
            <a:r>
              <a:rPr lang="en-US" sz="1600" dirty="0">
                <a:solidFill>
                  <a:schemeClr val="tx1"/>
                </a:solidFill>
                <a:cs typeface="Times New Roman" pitchFamily="18" charset="0"/>
              </a:rPr>
              <a:t>: </a:t>
            </a:r>
            <a:endParaRPr lang="en-US" sz="1600" dirty="0" smtClean="0">
              <a:solidFill>
                <a:schemeClr val="tx1"/>
              </a:solidFill>
              <a:cs typeface="Times New Roman" pitchFamily="18" charset="0"/>
            </a:endParaRPr>
          </a:p>
          <a:p>
            <a:pPr algn="l"/>
            <a:r>
              <a:rPr lang="en-US" sz="1600" dirty="0">
                <a:solidFill>
                  <a:schemeClr val="tx1"/>
                </a:solidFill>
                <a:cs typeface="Times New Roman" pitchFamily="18" charset="0"/>
              </a:rPr>
              <a:t> </a:t>
            </a:r>
            <a:r>
              <a:rPr lang="en-US" sz="1600" dirty="0" smtClean="0">
                <a:solidFill>
                  <a:schemeClr val="tx1"/>
                </a:solidFill>
                <a:cs typeface="Times New Roman" pitchFamily="18" charset="0"/>
              </a:rPr>
              <a:t>         return </a:t>
            </a:r>
            <a:r>
              <a:rPr lang="en-US" sz="1600" dirty="0">
                <a:solidFill>
                  <a:schemeClr val="tx1"/>
                </a:solidFill>
                <a:cs typeface="Times New Roman" pitchFamily="18" charset="0"/>
              </a:rPr>
              <a:t>-1 # Target not </a:t>
            </a:r>
            <a:r>
              <a:rPr lang="en-US" sz="1600" dirty="0" smtClean="0">
                <a:solidFill>
                  <a:schemeClr val="tx1"/>
                </a:solidFill>
                <a:cs typeface="Times New Roman" pitchFamily="18" charset="0"/>
              </a:rPr>
              <a:t>found</a:t>
            </a:r>
          </a:p>
          <a:p>
            <a:pPr algn="l"/>
            <a:r>
              <a:rPr lang="en-US" sz="1600">
                <a:solidFill>
                  <a:schemeClr val="tx1"/>
                </a:solidFill>
                <a:latin typeface="Times New Roman" pitchFamily="18" charset="0"/>
                <a:cs typeface="Times New Roman" pitchFamily="18" charset="0"/>
              </a:rPr>
              <a:t>}</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endParaRPr lang="en-IN" sz="18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MAULANA  ABUL KALAM AZAD UNIVERSITY OF TECHNOLOGY</a:t>
            </a:r>
            <a:endParaRPr lang="en-US" dirty="0"/>
          </a:p>
        </p:txBody>
      </p:sp>
      <p:sp>
        <p:nvSpPr>
          <p:cNvPr id="5" name="Slide Number Placeholder 4"/>
          <p:cNvSpPr>
            <a:spLocks noGrp="1"/>
          </p:cNvSpPr>
          <p:nvPr>
            <p:ph type="sldNum" sz="quarter" idx="12"/>
          </p:nvPr>
        </p:nvSpPr>
        <p:spPr/>
        <p:txBody>
          <a:bodyPr/>
          <a:lstStyle/>
          <a:p>
            <a:r>
              <a:rPr lang="en-US" smtClean="0"/>
              <a:t>CA-1: BCAD501B</a:t>
            </a:r>
            <a:endParaRPr lang="en-US" dirty="0"/>
          </a:p>
        </p:txBody>
      </p:sp>
    </p:spTree>
    <p:extLst>
      <p:ext uri="{BB962C8B-B14F-4D97-AF65-F5344CB8AC3E}">
        <p14:creationId xmlns:p14="http://schemas.microsoft.com/office/powerpoint/2010/main" val="24522482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85800"/>
            <a:ext cx="7772400" cy="533400"/>
          </a:xfrm>
        </p:spPr>
        <p:txBody>
          <a:bodyPr>
            <a:normAutofit fontScale="90000"/>
          </a:bodyPr>
          <a:lstStyle/>
          <a:p>
            <a:r>
              <a:rPr lang="en-US" u="sng" dirty="0" smtClean="0">
                <a:solidFill>
                  <a:schemeClr val="tx2"/>
                </a:solidFill>
                <a:latin typeface="Copperplate Gothic Bold" pitchFamily="34" charset="0"/>
              </a:rPr>
              <a:t>EXAMPLE OF </a:t>
            </a:r>
            <a:br>
              <a:rPr lang="en-US" u="sng" dirty="0" smtClean="0">
                <a:solidFill>
                  <a:schemeClr val="tx2"/>
                </a:solidFill>
                <a:latin typeface="Copperplate Gothic Bold" pitchFamily="34" charset="0"/>
              </a:rPr>
            </a:br>
            <a:r>
              <a:rPr lang="en-US" u="sng" dirty="0" smtClean="0">
                <a:solidFill>
                  <a:schemeClr val="tx2"/>
                </a:solidFill>
                <a:latin typeface="Copperplate Gothic Bold" pitchFamily="34" charset="0"/>
              </a:rPr>
              <a:t>RECURSIVE BINARY SEARCH</a:t>
            </a:r>
            <a:endParaRPr lang="en-IN" u="sng" dirty="0">
              <a:solidFill>
                <a:schemeClr val="tx2"/>
              </a:solidFill>
              <a:latin typeface="Copperplate Gothic Bold" pitchFamily="34" charset="0"/>
            </a:endParaRPr>
          </a:p>
        </p:txBody>
      </p:sp>
      <p:sp>
        <p:nvSpPr>
          <p:cNvPr id="4" name="Footer Placeholder 3"/>
          <p:cNvSpPr>
            <a:spLocks noGrp="1"/>
          </p:cNvSpPr>
          <p:nvPr>
            <p:ph type="ftr" sz="quarter" idx="11"/>
          </p:nvPr>
        </p:nvSpPr>
        <p:spPr/>
        <p:txBody>
          <a:bodyPr/>
          <a:lstStyle/>
          <a:p>
            <a:r>
              <a:rPr lang="en-US" smtClean="0"/>
              <a:t>MAULANA  ABUL KALAM AZAD UNIVERSITY OF TECHNOLOGY</a:t>
            </a:r>
            <a:endParaRPr lang="en-US" dirty="0"/>
          </a:p>
        </p:txBody>
      </p:sp>
      <p:sp>
        <p:nvSpPr>
          <p:cNvPr id="5" name="Slide Number Placeholder 4"/>
          <p:cNvSpPr>
            <a:spLocks noGrp="1"/>
          </p:cNvSpPr>
          <p:nvPr>
            <p:ph type="sldNum" sz="quarter" idx="12"/>
          </p:nvPr>
        </p:nvSpPr>
        <p:spPr/>
        <p:txBody>
          <a:bodyPr/>
          <a:lstStyle/>
          <a:p>
            <a:r>
              <a:rPr lang="en-US" smtClean="0"/>
              <a:t>CA-1: BCAD501B</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1524000"/>
            <a:ext cx="4038600" cy="22860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4419600"/>
            <a:ext cx="4038599" cy="2280171"/>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0" y="2209800"/>
            <a:ext cx="3676650" cy="4489971"/>
          </a:xfrm>
          <a:prstGeom prst="rect">
            <a:avLst/>
          </a:prstGeom>
        </p:spPr>
      </p:pic>
      <p:sp>
        <p:nvSpPr>
          <p:cNvPr id="9" name="Down Arrow 8"/>
          <p:cNvSpPr/>
          <p:nvPr/>
        </p:nvSpPr>
        <p:spPr>
          <a:xfrm>
            <a:off x="1828800" y="3810000"/>
            <a:ext cx="322857" cy="609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ight Arrow 9"/>
          <p:cNvSpPr/>
          <p:nvPr/>
        </p:nvSpPr>
        <p:spPr>
          <a:xfrm>
            <a:off x="4191000" y="5257800"/>
            <a:ext cx="1143000" cy="301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95498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685799"/>
          </a:xfrm>
        </p:spPr>
        <p:txBody>
          <a:bodyPr/>
          <a:lstStyle/>
          <a:p>
            <a:r>
              <a:rPr lang="en-US" u="sng" dirty="0" smtClean="0">
                <a:solidFill>
                  <a:schemeClr val="tx2"/>
                </a:solidFill>
                <a:latin typeface="Copperplate Gothic Bold" pitchFamily="34" charset="0"/>
              </a:rPr>
              <a:t>TIME COMPLEXITY ANALYSIS</a:t>
            </a:r>
            <a:endParaRPr lang="en-IN" u="sng" dirty="0">
              <a:solidFill>
                <a:schemeClr val="tx2"/>
              </a:solidFill>
              <a:latin typeface="Copperplate Gothic Bold" pitchFamily="34" charset="0"/>
            </a:endParaRPr>
          </a:p>
        </p:txBody>
      </p:sp>
      <p:sp>
        <p:nvSpPr>
          <p:cNvPr id="3" name="Subtitle 2"/>
          <p:cNvSpPr>
            <a:spLocks noGrp="1"/>
          </p:cNvSpPr>
          <p:nvPr>
            <p:ph type="subTitle" idx="1"/>
          </p:nvPr>
        </p:nvSpPr>
        <p:spPr>
          <a:xfrm>
            <a:off x="381000" y="1524000"/>
            <a:ext cx="8458200" cy="4648200"/>
          </a:xfrm>
        </p:spPr>
        <p:txBody>
          <a:bodyPr/>
          <a:lstStyle/>
          <a:p>
            <a:pPr algn="l"/>
            <a:r>
              <a:rPr lang="en-US" sz="1800" b="1" dirty="0">
                <a:solidFill>
                  <a:schemeClr val="tx1"/>
                </a:solidFill>
              </a:rPr>
              <a:t>Best Case Time Complexity: O(1</a:t>
            </a:r>
            <a:r>
              <a:rPr lang="en-US" sz="1800" b="1" dirty="0" smtClean="0">
                <a:solidFill>
                  <a:schemeClr val="tx1"/>
                </a:solidFill>
              </a:rPr>
              <a:t>):</a:t>
            </a:r>
            <a:endParaRPr lang="en-IN" sz="1800" dirty="0">
              <a:solidFill>
                <a:schemeClr val="tx1"/>
              </a:solidFill>
            </a:endParaRPr>
          </a:p>
          <a:p>
            <a:pPr algn="l"/>
            <a:r>
              <a:rPr lang="en-US" sz="1800" dirty="0">
                <a:solidFill>
                  <a:schemeClr val="tx1"/>
                </a:solidFill>
              </a:rPr>
              <a:t>	Best case is when the element is at the middle index of the array. It takes only one comparison to find the target element. So the best case complexity is</a:t>
            </a:r>
            <a:r>
              <a:rPr lang="en-US" sz="1800" i="1" dirty="0">
                <a:solidFill>
                  <a:schemeClr val="tx1"/>
                </a:solidFill>
              </a:rPr>
              <a:t> </a:t>
            </a:r>
            <a:r>
              <a:rPr lang="en-US" sz="1800" b="1" dirty="0">
                <a:solidFill>
                  <a:schemeClr val="tx1"/>
                </a:solidFill>
              </a:rPr>
              <a:t>O(1)</a:t>
            </a:r>
            <a:r>
              <a:rPr lang="en-US" sz="1800" i="1" dirty="0">
                <a:solidFill>
                  <a:schemeClr val="tx1"/>
                </a:solidFill>
              </a:rPr>
              <a:t>.</a:t>
            </a:r>
            <a:endParaRPr lang="en-IN" sz="1800" dirty="0">
              <a:solidFill>
                <a:schemeClr val="tx1"/>
              </a:solidFill>
            </a:endParaRPr>
          </a:p>
          <a:p>
            <a:pPr algn="l"/>
            <a:r>
              <a:rPr lang="en-US" sz="1800" b="1" dirty="0">
                <a:solidFill>
                  <a:schemeClr val="tx1"/>
                </a:solidFill>
              </a:rPr>
              <a:t>Average Case Time Complexity: O(log N</a:t>
            </a:r>
            <a:r>
              <a:rPr lang="en-US" sz="1800" b="1" dirty="0" smtClean="0">
                <a:solidFill>
                  <a:schemeClr val="tx1"/>
                </a:solidFill>
              </a:rPr>
              <a:t>):</a:t>
            </a:r>
            <a:endParaRPr lang="en-IN" sz="1800" dirty="0">
              <a:solidFill>
                <a:schemeClr val="tx1"/>
              </a:solidFill>
            </a:endParaRPr>
          </a:p>
          <a:p>
            <a:pPr algn="l"/>
            <a:r>
              <a:rPr lang="en-US" sz="1800" dirty="0">
                <a:solidFill>
                  <a:schemeClr val="tx1"/>
                </a:solidFill>
              </a:rPr>
              <a:t>	The average complexity = (</a:t>
            </a:r>
            <a:r>
              <a:rPr lang="en-US" sz="1800" b="1" dirty="0">
                <a:solidFill>
                  <a:schemeClr val="tx1"/>
                </a:solidFill>
              </a:rPr>
              <a:t>N*(</a:t>
            </a:r>
            <a:r>
              <a:rPr lang="en-US" sz="1800" b="1" dirty="0" err="1">
                <a:solidFill>
                  <a:schemeClr val="tx1"/>
                </a:solidFill>
              </a:rPr>
              <a:t>logN</a:t>
            </a:r>
            <a:r>
              <a:rPr lang="en-US" sz="1800" b="1" dirty="0">
                <a:solidFill>
                  <a:schemeClr val="tx1"/>
                </a:solidFill>
              </a:rPr>
              <a:t> – 1) + 1)/N+1</a:t>
            </a:r>
            <a:r>
              <a:rPr lang="en-US" sz="1800" dirty="0">
                <a:solidFill>
                  <a:schemeClr val="tx1"/>
                </a:solidFill>
              </a:rPr>
              <a:t> = </a:t>
            </a:r>
            <a:r>
              <a:rPr lang="en-US" sz="1800" b="1" dirty="0">
                <a:solidFill>
                  <a:schemeClr val="tx1"/>
                </a:solidFill>
              </a:rPr>
              <a:t>N*</a:t>
            </a:r>
            <a:r>
              <a:rPr lang="en-US" sz="1800" b="1" dirty="0" err="1">
                <a:solidFill>
                  <a:schemeClr val="tx1"/>
                </a:solidFill>
              </a:rPr>
              <a:t>logN</a:t>
            </a:r>
            <a:r>
              <a:rPr lang="en-US" sz="1800" b="1" dirty="0">
                <a:solidFill>
                  <a:schemeClr val="tx1"/>
                </a:solidFill>
              </a:rPr>
              <a:t> / (N+1) + 1/(N+1)</a:t>
            </a:r>
            <a:r>
              <a:rPr lang="en-US" sz="1800" dirty="0">
                <a:solidFill>
                  <a:schemeClr val="tx1"/>
                </a:solidFill>
              </a:rPr>
              <a:t>. Here the dominant term is N*</a:t>
            </a:r>
            <a:r>
              <a:rPr lang="en-US" sz="1800" dirty="0" err="1">
                <a:solidFill>
                  <a:schemeClr val="tx1"/>
                </a:solidFill>
              </a:rPr>
              <a:t>logN</a:t>
            </a:r>
            <a:r>
              <a:rPr lang="en-US" sz="1800" dirty="0">
                <a:solidFill>
                  <a:schemeClr val="tx1"/>
                </a:solidFill>
              </a:rPr>
              <a:t>/(N+1) which is approximately </a:t>
            </a:r>
            <a:r>
              <a:rPr lang="en-US" sz="1800" b="1" dirty="0" err="1">
                <a:solidFill>
                  <a:schemeClr val="tx1"/>
                </a:solidFill>
              </a:rPr>
              <a:t>logN</a:t>
            </a:r>
            <a:r>
              <a:rPr lang="en-US" sz="1800" dirty="0">
                <a:solidFill>
                  <a:schemeClr val="tx1"/>
                </a:solidFill>
              </a:rPr>
              <a:t>. So the average case complexity is </a:t>
            </a:r>
            <a:r>
              <a:rPr lang="en-US" sz="1800" b="1" dirty="0">
                <a:solidFill>
                  <a:schemeClr val="tx1"/>
                </a:solidFill>
              </a:rPr>
              <a:t>O(</a:t>
            </a:r>
            <a:r>
              <a:rPr lang="en-US" sz="1800" b="1" dirty="0" err="1">
                <a:solidFill>
                  <a:schemeClr val="tx1"/>
                </a:solidFill>
              </a:rPr>
              <a:t>logN</a:t>
            </a:r>
            <a:r>
              <a:rPr lang="en-US" sz="1800" b="1" dirty="0" smtClean="0">
                <a:solidFill>
                  <a:schemeClr val="tx1"/>
                </a:solidFill>
              </a:rPr>
              <a:t>).</a:t>
            </a:r>
            <a:endParaRPr lang="en-IN" sz="1800" dirty="0">
              <a:solidFill>
                <a:schemeClr val="tx1"/>
              </a:solidFill>
            </a:endParaRPr>
          </a:p>
          <a:p>
            <a:pPr algn="l"/>
            <a:r>
              <a:rPr lang="en-US" sz="1800" b="1" dirty="0">
                <a:solidFill>
                  <a:schemeClr val="tx1"/>
                </a:solidFill>
              </a:rPr>
              <a:t>Worst Case Time Complexity: O(log </a:t>
            </a:r>
            <a:r>
              <a:rPr lang="en-US" sz="1800" b="1">
                <a:solidFill>
                  <a:schemeClr val="tx1"/>
                </a:solidFill>
              </a:rPr>
              <a:t>N</a:t>
            </a:r>
            <a:r>
              <a:rPr lang="en-US" sz="1800" b="1" smtClean="0">
                <a:solidFill>
                  <a:schemeClr val="tx1"/>
                </a:solidFill>
              </a:rPr>
              <a:t>):</a:t>
            </a:r>
            <a:endParaRPr lang="en-IN" sz="1800" dirty="0">
              <a:solidFill>
                <a:schemeClr val="tx1"/>
              </a:solidFill>
            </a:endParaRPr>
          </a:p>
          <a:p>
            <a:pPr algn="l"/>
            <a:r>
              <a:rPr lang="en-US" sz="1800" dirty="0">
                <a:solidFill>
                  <a:schemeClr val="tx1"/>
                </a:solidFill>
              </a:rPr>
              <a:t>	The worst case will be when the element is present in the first position. As seen in the average case, the comparison required to reach the first element is </a:t>
            </a:r>
            <a:r>
              <a:rPr lang="en-US" sz="1800" b="1" dirty="0" err="1">
                <a:solidFill>
                  <a:schemeClr val="tx1"/>
                </a:solidFill>
              </a:rPr>
              <a:t>logN</a:t>
            </a:r>
            <a:r>
              <a:rPr lang="en-US" sz="1800" dirty="0" smtClean="0">
                <a:solidFill>
                  <a:schemeClr val="tx1"/>
                </a:solidFill>
              </a:rPr>
              <a:t>.</a:t>
            </a:r>
            <a:r>
              <a:rPr lang="en-US" sz="1800" dirty="0">
                <a:solidFill>
                  <a:schemeClr val="tx1"/>
                </a:solidFill>
              </a:rPr>
              <a:t> Worst case may also occur if the value is at the last index of the </a:t>
            </a:r>
            <a:r>
              <a:rPr lang="en-US" sz="1800" dirty="0" smtClean="0">
                <a:solidFill>
                  <a:schemeClr val="tx1"/>
                </a:solidFill>
              </a:rPr>
              <a:t>array.</a:t>
            </a:r>
            <a:r>
              <a:rPr lang="en-IN" sz="1800" dirty="0" smtClean="0">
                <a:solidFill>
                  <a:schemeClr val="tx1"/>
                </a:solidFill>
              </a:rPr>
              <a:t> </a:t>
            </a:r>
            <a:r>
              <a:rPr lang="en-US" sz="1800" dirty="0" smtClean="0">
                <a:solidFill>
                  <a:schemeClr val="tx1"/>
                </a:solidFill>
              </a:rPr>
              <a:t>So </a:t>
            </a:r>
            <a:r>
              <a:rPr lang="en-US" sz="1800" dirty="0">
                <a:solidFill>
                  <a:schemeClr val="tx1"/>
                </a:solidFill>
              </a:rPr>
              <a:t>the time complexity for the worst case is </a:t>
            </a:r>
            <a:r>
              <a:rPr lang="en-US" sz="1800" b="1" dirty="0">
                <a:solidFill>
                  <a:schemeClr val="tx1"/>
                </a:solidFill>
              </a:rPr>
              <a:t>O(</a:t>
            </a:r>
            <a:r>
              <a:rPr lang="en-US" sz="1800" b="1" dirty="0" err="1">
                <a:solidFill>
                  <a:schemeClr val="tx1"/>
                </a:solidFill>
              </a:rPr>
              <a:t>logN</a:t>
            </a:r>
            <a:r>
              <a:rPr lang="en-US" sz="1800" b="1" dirty="0">
                <a:solidFill>
                  <a:schemeClr val="tx1"/>
                </a:solidFill>
              </a:rPr>
              <a:t>)</a:t>
            </a:r>
            <a:r>
              <a:rPr lang="en-US" sz="1800" dirty="0">
                <a:solidFill>
                  <a:schemeClr val="tx1"/>
                </a:solidFill>
              </a:rPr>
              <a:t>. </a:t>
            </a:r>
            <a:endParaRPr lang="en-US" sz="1400" b="1" dirty="0">
              <a:latin typeface="Times New Roman" pitchFamily="18" charset="0"/>
              <a:cs typeface="Times New Roman" pitchFamily="18" charset="0"/>
            </a:endParaRPr>
          </a:p>
          <a:p>
            <a:pPr algn="l"/>
            <a:endParaRPr lang="en-US" sz="1400" b="1" dirty="0">
              <a:latin typeface="Times New Roman" pitchFamily="18" charset="0"/>
              <a:cs typeface="Times New Roman" pitchFamily="18" charset="0"/>
            </a:endParaRPr>
          </a:p>
          <a:p>
            <a:pPr algn="l"/>
            <a:endParaRPr lang="en-IN" sz="1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MAULANA  ABUL KALAM AZAD UNIVERSITY OF TECHNOLOGY</a:t>
            </a:r>
            <a:endParaRPr lang="en-US" dirty="0"/>
          </a:p>
        </p:txBody>
      </p:sp>
      <p:sp>
        <p:nvSpPr>
          <p:cNvPr id="5" name="Slide Number Placeholder 4"/>
          <p:cNvSpPr>
            <a:spLocks noGrp="1"/>
          </p:cNvSpPr>
          <p:nvPr>
            <p:ph type="sldNum" sz="quarter" idx="12"/>
          </p:nvPr>
        </p:nvSpPr>
        <p:spPr/>
        <p:txBody>
          <a:bodyPr/>
          <a:lstStyle/>
          <a:p>
            <a:r>
              <a:rPr lang="en-US" smtClean="0"/>
              <a:t>CA-1: BCAD501B</a:t>
            </a:r>
            <a:endParaRPr lang="en-US" dirty="0"/>
          </a:p>
        </p:txBody>
      </p:sp>
    </p:spTree>
    <p:extLst>
      <p:ext uri="{BB962C8B-B14F-4D97-AF65-F5344CB8AC3E}">
        <p14:creationId xmlns:p14="http://schemas.microsoft.com/office/powerpoint/2010/main" val="947310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685799"/>
          </a:xfrm>
        </p:spPr>
        <p:txBody>
          <a:bodyPr>
            <a:normAutofit fontScale="90000"/>
          </a:bodyPr>
          <a:lstStyle/>
          <a:p>
            <a:r>
              <a:rPr lang="en-US" u="sng" dirty="0" smtClean="0">
                <a:solidFill>
                  <a:schemeClr val="tx2"/>
                </a:solidFill>
                <a:latin typeface="Copperplate Gothic Bold" pitchFamily="34" charset="0"/>
              </a:rPr>
              <a:t/>
            </a:r>
            <a:br>
              <a:rPr lang="en-US" u="sng" dirty="0" smtClean="0">
                <a:solidFill>
                  <a:schemeClr val="tx2"/>
                </a:solidFill>
                <a:latin typeface="Copperplate Gothic Bold" pitchFamily="34" charset="0"/>
              </a:rPr>
            </a:br>
            <a:r>
              <a:rPr lang="en-US" u="sng" dirty="0" smtClean="0">
                <a:solidFill>
                  <a:schemeClr val="tx2"/>
                </a:solidFill>
                <a:latin typeface="Copperplate Gothic Bold" pitchFamily="34" charset="0"/>
              </a:rPr>
              <a:t>Advantages of </a:t>
            </a:r>
            <a:br>
              <a:rPr lang="en-US" u="sng" dirty="0" smtClean="0">
                <a:solidFill>
                  <a:schemeClr val="tx2"/>
                </a:solidFill>
                <a:latin typeface="Copperplate Gothic Bold" pitchFamily="34" charset="0"/>
              </a:rPr>
            </a:br>
            <a:r>
              <a:rPr lang="en-US" u="sng" dirty="0" smtClean="0">
                <a:solidFill>
                  <a:schemeClr val="tx2"/>
                </a:solidFill>
                <a:latin typeface="Copperplate Gothic Bold" pitchFamily="34" charset="0"/>
              </a:rPr>
              <a:t>recursive binary search</a:t>
            </a:r>
            <a:endParaRPr lang="en-IN" u="sng" dirty="0">
              <a:solidFill>
                <a:schemeClr val="tx2"/>
              </a:solidFill>
              <a:latin typeface="Copperplate Gothic Bold" pitchFamily="34" charset="0"/>
            </a:endParaRPr>
          </a:p>
        </p:txBody>
      </p:sp>
      <p:sp>
        <p:nvSpPr>
          <p:cNvPr id="3" name="Subtitle 2"/>
          <p:cNvSpPr>
            <a:spLocks noGrp="1"/>
          </p:cNvSpPr>
          <p:nvPr>
            <p:ph type="subTitle" idx="1"/>
          </p:nvPr>
        </p:nvSpPr>
        <p:spPr>
          <a:xfrm>
            <a:off x="304800" y="1981200"/>
            <a:ext cx="8610600" cy="4648200"/>
          </a:xfrm>
        </p:spPr>
        <p:txBody>
          <a:bodyPr/>
          <a:lstStyle/>
          <a:p>
            <a:pPr marL="285750" indent="-285750" algn="l">
              <a:buFont typeface="Wingdings" pitchFamily="2" charset="2"/>
              <a:buChar char="Ø"/>
            </a:pPr>
            <a:r>
              <a:rPr lang="en-US" sz="2800" b="1" dirty="0" smtClean="0">
                <a:solidFill>
                  <a:schemeClr val="tx1"/>
                </a:solidFill>
                <a:latin typeface="Times New Roman" pitchFamily="18" charset="0"/>
                <a:cs typeface="Times New Roman" pitchFamily="18" charset="0"/>
              </a:rPr>
              <a:t>Efficiency</a:t>
            </a:r>
          </a:p>
          <a:p>
            <a:pPr marL="285750" indent="-285750" algn="l">
              <a:buFont typeface="Wingdings" pitchFamily="2" charset="2"/>
              <a:buChar char="Ø"/>
            </a:pPr>
            <a:r>
              <a:rPr lang="en-US" sz="2800" b="1" dirty="0" smtClean="0">
                <a:solidFill>
                  <a:schemeClr val="tx1"/>
                </a:solidFill>
                <a:latin typeface="Times New Roman" pitchFamily="18" charset="0"/>
                <a:cs typeface="Times New Roman" pitchFamily="18" charset="0"/>
              </a:rPr>
              <a:t>Simple Implementation</a:t>
            </a:r>
          </a:p>
          <a:p>
            <a:pPr marL="285750" indent="-285750" algn="l">
              <a:buFont typeface="Wingdings" pitchFamily="2" charset="2"/>
              <a:buChar char="Ø"/>
            </a:pPr>
            <a:r>
              <a:rPr lang="en-US" sz="2800" b="1" dirty="0" smtClean="0">
                <a:solidFill>
                  <a:schemeClr val="tx1"/>
                </a:solidFill>
                <a:latin typeface="Times New Roman" pitchFamily="18" charset="0"/>
                <a:cs typeface="Times New Roman" pitchFamily="18" charset="0"/>
              </a:rPr>
              <a:t>Memory Efficiency</a:t>
            </a:r>
          </a:p>
          <a:p>
            <a:pPr marL="285750" indent="-285750" algn="l">
              <a:buFont typeface="Wingdings" pitchFamily="2" charset="2"/>
              <a:buChar char="Ø"/>
            </a:pPr>
            <a:r>
              <a:rPr lang="en-US" sz="2800" b="1" dirty="0" smtClean="0">
                <a:solidFill>
                  <a:schemeClr val="tx1"/>
                </a:solidFill>
                <a:latin typeface="Times New Roman" pitchFamily="18" charset="0"/>
                <a:cs typeface="Times New Roman" pitchFamily="18" charset="0"/>
              </a:rPr>
              <a:t>Optimal </a:t>
            </a:r>
            <a:r>
              <a:rPr lang="en-US" sz="2800" b="1" dirty="0">
                <a:solidFill>
                  <a:schemeClr val="tx1"/>
                </a:solidFill>
                <a:latin typeface="Times New Roman" pitchFamily="18" charset="0"/>
                <a:cs typeface="Times New Roman" pitchFamily="18" charset="0"/>
              </a:rPr>
              <a:t>for Sorted </a:t>
            </a:r>
            <a:r>
              <a:rPr lang="en-US" sz="2800" b="1" dirty="0" smtClean="0">
                <a:solidFill>
                  <a:schemeClr val="tx1"/>
                </a:solidFill>
                <a:latin typeface="Times New Roman" pitchFamily="18" charset="0"/>
                <a:cs typeface="Times New Roman" pitchFamily="18" charset="0"/>
              </a:rPr>
              <a:t>Data</a:t>
            </a:r>
          </a:p>
          <a:p>
            <a:pPr marL="285750" indent="-285750" algn="l">
              <a:buFont typeface="Wingdings" pitchFamily="2" charset="2"/>
              <a:buChar char="Ø"/>
            </a:pPr>
            <a:r>
              <a:rPr lang="en-US" sz="2800" b="1" dirty="0" smtClean="0">
                <a:solidFill>
                  <a:schemeClr val="tx1"/>
                </a:solidFill>
                <a:latin typeface="Times New Roman" pitchFamily="18" charset="0"/>
                <a:cs typeface="Times New Roman" pitchFamily="18" charset="0"/>
              </a:rPr>
              <a:t>Divide </a:t>
            </a:r>
            <a:r>
              <a:rPr lang="en-US" sz="2800" b="1" dirty="0">
                <a:solidFill>
                  <a:schemeClr val="tx1"/>
                </a:solidFill>
                <a:latin typeface="Times New Roman" pitchFamily="18" charset="0"/>
                <a:cs typeface="Times New Roman" pitchFamily="18" charset="0"/>
              </a:rPr>
              <a:t>and </a:t>
            </a:r>
            <a:r>
              <a:rPr lang="en-US" sz="2800" b="1" dirty="0" smtClean="0">
                <a:solidFill>
                  <a:schemeClr val="tx1"/>
                </a:solidFill>
                <a:latin typeface="Times New Roman" pitchFamily="18" charset="0"/>
                <a:cs typeface="Times New Roman" pitchFamily="18" charset="0"/>
              </a:rPr>
              <a:t>Conquer</a:t>
            </a:r>
            <a:endParaRPr lang="en-IN" sz="2800" dirty="0">
              <a:solidFill>
                <a:schemeClr val="tx1"/>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MAULANA  ABUL KALAM AZAD UNIVERSITY OF TECHNOLOGY</a:t>
            </a:r>
            <a:endParaRPr lang="en-US" dirty="0"/>
          </a:p>
        </p:txBody>
      </p:sp>
      <p:sp>
        <p:nvSpPr>
          <p:cNvPr id="5" name="Slide Number Placeholder 4"/>
          <p:cNvSpPr>
            <a:spLocks noGrp="1"/>
          </p:cNvSpPr>
          <p:nvPr>
            <p:ph type="sldNum" sz="quarter" idx="12"/>
          </p:nvPr>
        </p:nvSpPr>
        <p:spPr/>
        <p:txBody>
          <a:bodyPr/>
          <a:lstStyle/>
          <a:p>
            <a:r>
              <a:rPr lang="en-US" smtClean="0"/>
              <a:t>CA-1: BCAD501B</a:t>
            </a:r>
            <a:endParaRPr lang="en-US" dirty="0"/>
          </a:p>
        </p:txBody>
      </p:sp>
    </p:spTree>
    <p:extLst>
      <p:ext uri="{BB962C8B-B14F-4D97-AF65-F5344CB8AC3E}">
        <p14:creationId xmlns:p14="http://schemas.microsoft.com/office/powerpoint/2010/main" val="16116833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685799"/>
          </a:xfrm>
        </p:spPr>
        <p:txBody>
          <a:bodyPr>
            <a:normAutofit fontScale="90000"/>
          </a:bodyPr>
          <a:lstStyle/>
          <a:p>
            <a:r>
              <a:rPr lang="en-US" u="sng" dirty="0" smtClean="0">
                <a:solidFill>
                  <a:schemeClr val="tx2"/>
                </a:solidFill>
                <a:latin typeface="Copperplate Gothic Bold" pitchFamily="34" charset="0"/>
              </a:rPr>
              <a:t/>
            </a:r>
            <a:br>
              <a:rPr lang="en-US" u="sng" dirty="0" smtClean="0">
                <a:solidFill>
                  <a:schemeClr val="tx2"/>
                </a:solidFill>
                <a:latin typeface="Copperplate Gothic Bold" pitchFamily="34" charset="0"/>
              </a:rPr>
            </a:br>
            <a:r>
              <a:rPr lang="en-US" u="sng" dirty="0" smtClean="0">
                <a:solidFill>
                  <a:schemeClr val="tx2"/>
                </a:solidFill>
                <a:latin typeface="Copperplate Gothic Bold" pitchFamily="34" charset="0"/>
              </a:rPr>
              <a:t>DISADVANTAGES OF </a:t>
            </a:r>
            <a:br>
              <a:rPr lang="en-US" u="sng" dirty="0" smtClean="0">
                <a:solidFill>
                  <a:schemeClr val="tx2"/>
                </a:solidFill>
                <a:latin typeface="Copperplate Gothic Bold" pitchFamily="34" charset="0"/>
              </a:rPr>
            </a:br>
            <a:r>
              <a:rPr lang="en-US" u="sng" dirty="0" smtClean="0">
                <a:solidFill>
                  <a:schemeClr val="tx2"/>
                </a:solidFill>
                <a:latin typeface="Copperplate Gothic Bold" pitchFamily="34" charset="0"/>
              </a:rPr>
              <a:t>RECURSIVE BINARY SEARCH</a:t>
            </a:r>
            <a:endParaRPr lang="en-IN" u="sng" dirty="0">
              <a:solidFill>
                <a:schemeClr val="tx2"/>
              </a:solidFill>
              <a:latin typeface="Copperplate Gothic Bold" pitchFamily="34" charset="0"/>
            </a:endParaRPr>
          </a:p>
        </p:txBody>
      </p:sp>
      <p:sp>
        <p:nvSpPr>
          <p:cNvPr id="3" name="Subtitle 2"/>
          <p:cNvSpPr>
            <a:spLocks noGrp="1"/>
          </p:cNvSpPr>
          <p:nvPr>
            <p:ph type="subTitle" idx="1"/>
          </p:nvPr>
        </p:nvSpPr>
        <p:spPr>
          <a:xfrm>
            <a:off x="381000" y="2133600"/>
            <a:ext cx="8458200" cy="4343400"/>
          </a:xfrm>
        </p:spPr>
        <p:txBody>
          <a:bodyPr/>
          <a:lstStyle/>
          <a:p>
            <a:pPr marL="285750" indent="-285750" algn="l">
              <a:buFont typeface="Wingdings" pitchFamily="2" charset="2"/>
              <a:buChar char="Ø"/>
            </a:pPr>
            <a:r>
              <a:rPr lang="en-US" sz="2800" b="1" dirty="0">
                <a:solidFill>
                  <a:schemeClr val="tx1"/>
                </a:solidFill>
              </a:rPr>
              <a:t>Recursive </a:t>
            </a:r>
            <a:r>
              <a:rPr lang="en-US" sz="2800" b="1" dirty="0" smtClean="0">
                <a:solidFill>
                  <a:schemeClr val="tx1"/>
                </a:solidFill>
              </a:rPr>
              <a:t>Overhead</a:t>
            </a:r>
            <a:endParaRPr lang="en-US" sz="2800" dirty="0">
              <a:solidFill>
                <a:schemeClr val="tx1"/>
              </a:solidFill>
            </a:endParaRPr>
          </a:p>
          <a:p>
            <a:pPr marL="285750" indent="-285750" algn="l">
              <a:buFont typeface="Wingdings" pitchFamily="2" charset="2"/>
              <a:buChar char="Ø"/>
            </a:pPr>
            <a:r>
              <a:rPr lang="en-US" sz="2800" b="1" dirty="0" smtClean="0">
                <a:solidFill>
                  <a:schemeClr val="tx1"/>
                </a:solidFill>
              </a:rPr>
              <a:t>Implementation Complexity</a:t>
            </a:r>
          </a:p>
          <a:p>
            <a:pPr marL="285750" indent="-285750" algn="l">
              <a:buFont typeface="Wingdings" pitchFamily="2" charset="2"/>
              <a:buChar char="Ø"/>
            </a:pPr>
            <a:r>
              <a:rPr lang="en-US" sz="2800" b="1" dirty="0" smtClean="0">
                <a:solidFill>
                  <a:schemeClr val="tx1"/>
                </a:solidFill>
              </a:rPr>
              <a:t>Limited Applicability</a:t>
            </a:r>
          </a:p>
          <a:p>
            <a:pPr marL="285750" indent="-285750" algn="l">
              <a:buFont typeface="Wingdings" pitchFamily="2" charset="2"/>
              <a:buChar char="Ø"/>
            </a:pPr>
            <a:r>
              <a:rPr lang="en-US" sz="2800" b="1" dirty="0" smtClean="0">
                <a:solidFill>
                  <a:schemeClr val="tx1"/>
                </a:solidFill>
              </a:rPr>
              <a:t>Not </a:t>
            </a:r>
            <a:r>
              <a:rPr lang="en-US" sz="2800" b="1" dirty="0">
                <a:solidFill>
                  <a:schemeClr val="tx1"/>
                </a:solidFill>
              </a:rPr>
              <a:t>Always </a:t>
            </a:r>
            <a:r>
              <a:rPr lang="en-US" sz="2800" b="1" dirty="0" smtClean="0">
                <a:solidFill>
                  <a:schemeClr val="tx1"/>
                </a:solidFill>
              </a:rPr>
              <a:t>Faster</a:t>
            </a:r>
          </a:p>
          <a:p>
            <a:pPr marL="285750" indent="-285750" algn="l">
              <a:buFont typeface="Wingdings" pitchFamily="2" charset="2"/>
              <a:buChar char="Ø"/>
            </a:pPr>
            <a:r>
              <a:rPr lang="en-US" sz="2800" b="1" dirty="0" smtClean="0">
                <a:solidFill>
                  <a:schemeClr val="tx1"/>
                </a:solidFill>
              </a:rPr>
              <a:t>Lack </a:t>
            </a:r>
            <a:r>
              <a:rPr lang="en-US" sz="2800" b="1" dirty="0">
                <a:solidFill>
                  <a:schemeClr val="tx1"/>
                </a:solidFill>
              </a:rPr>
              <a:t>of </a:t>
            </a:r>
            <a:r>
              <a:rPr lang="en-US" sz="2800" b="1" dirty="0" smtClean="0">
                <a:solidFill>
                  <a:schemeClr val="tx1"/>
                </a:solidFill>
              </a:rPr>
              <a:t>Flexibility[2]</a:t>
            </a:r>
            <a:r>
              <a:rPr lang="en-US" sz="1800" dirty="0"/>
              <a:t/>
            </a:r>
            <a:br>
              <a:rPr lang="en-US" sz="1800" dirty="0"/>
            </a:br>
            <a:endParaRPr lang="en-IN" sz="1800" dirty="0">
              <a:solidFill>
                <a:schemeClr val="tx1"/>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MAULANA  ABUL KALAM AZAD UNIVERSITY OF TECHNOLOGY</a:t>
            </a:r>
            <a:endParaRPr lang="en-US" dirty="0"/>
          </a:p>
        </p:txBody>
      </p:sp>
      <p:sp>
        <p:nvSpPr>
          <p:cNvPr id="5" name="Slide Number Placeholder 4"/>
          <p:cNvSpPr>
            <a:spLocks noGrp="1"/>
          </p:cNvSpPr>
          <p:nvPr>
            <p:ph type="sldNum" sz="quarter" idx="12"/>
          </p:nvPr>
        </p:nvSpPr>
        <p:spPr/>
        <p:txBody>
          <a:bodyPr/>
          <a:lstStyle/>
          <a:p>
            <a:r>
              <a:rPr lang="en-US" smtClean="0"/>
              <a:t>CA-1: BCAD501B</a:t>
            </a:r>
            <a:endParaRPr lang="en-US" dirty="0"/>
          </a:p>
        </p:txBody>
      </p:sp>
    </p:spTree>
    <p:extLst>
      <p:ext uri="{BB962C8B-B14F-4D97-AF65-F5344CB8AC3E}">
        <p14:creationId xmlns:p14="http://schemas.microsoft.com/office/powerpoint/2010/main" val="37923454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761999"/>
          </a:xfrm>
        </p:spPr>
        <p:txBody>
          <a:bodyPr/>
          <a:lstStyle/>
          <a:p>
            <a:r>
              <a:rPr lang="en-US" u="sng" dirty="0" smtClean="0">
                <a:solidFill>
                  <a:schemeClr val="tx2"/>
                </a:solidFill>
                <a:latin typeface="Copperplate Gothic Bold" pitchFamily="34" charset="0"/>
              </a:rPr>
              <a:t>CONCLUSION</a:t>
            </a:r>
            <a:endParaRPr lang="en-IN" u="sng" dirty="0">
              <a:solidFill>
                <a:schemeClr val="tx2"/>
              </a:solidFill>
              <a:latin typeface="Copperplate Gothic Bold" pitchFamily="34" charset="0"/>
            </a:endParaRPr>
          </a:p>
        </p:txBody>
      </p:sp>
      <p:sp>
        <p:nvSpPr>
          <p:cNvPr id="3" name="Subtitle 2"/>
          <p:cNvSpPr>
            <a:spLocks noGrp="1"/>
          </p:cNvSpPr>
          <p:nvPr>
            <p:ph type="subTitle" idx="1"/>
          </p:nvPr>
        </p:nvSpPr>
        <p:spPr>
          <a:xfrm>
            <a:off x="457200" y="1524000"/>
            <a:ext cx="8305800" cy="4114800"/>
          </a:xfrm>
        </p:spPr>
        <p:txBody>
          <a:bodyPr/>
          <a:lstStyle/>
          <a:p>
            <a:pPr algn="l"/>
            <a:r>
              <a:rPr lang="en-US" sz="2000" dirty="0" smtClean="0">
                <a:solidFill>
                  <a:schemeClr val="tx1"/>
                </a:solidFill>
                <a:latin typeface="Times New Roman" pitchFamily="18" charset="0"/>
                <a:cs typeface="Times New Roman" pitchFamily="18" charset="0"/>
              </a:rPr>
              <a:t>In conclusion, recursive binary search offers an efficient way to search for elements in sorted arrays, but it's important to consider the potential drawbacks, such as recursion overhead and limitations in applicability. Depending on the context and specific requirements of your task, you might choose to use binary search or explore other search algorithms that better match your needs.</a:t>
            </a:r>
          </a:p>
          <a:p>
            <a:pPr algn="l"/>
            <a:r>
              <a:rPr lang="en-US" sz="2000" dirty="0">
                <a:solidFill>
                  <a:schemeClr val="tx1"/>
                </a:solidFill>
                <a:latin typeface="Times New Roman" pitchFamily="18" charset="0"/>
                <a:cs typeface="Times New Roman" pitchFamily="18" charset="0"/>
              </a:rPr>
              <a:t>T</a:t>
            </a:r>
            <a:r>
              <a:rPr lang="en-US" sz="2000" dirty="0" smtClean="0">
                <a:solidFill>
                  <a:schemeClr val="tx1"/>
                </a:solidFill>
                <a:latin typeface="Times New Roman" pitchFamily="18" charset="0"/>
                <a:cs typeface="Times New Roman" pitchFamily="18" charset="0"/>
              </a:rPr>
              <a:t>he </a:t>
            </a:r>
            <a:r>
              <a:rPr lang="en-US" sz="2000" dirty="0">
                <a:solidFill>
                  <a:schemeClr val="tx1"/>
                </a:solidFill>
                <a:latin typeface="Times New Roman" pitchFamily="18" charset="0"/>
                <a:cs typeface="Times New Roman" pitchFamily="18" charset="0"/>
              </a:rPr>
              <a:t>future of any algorithm's scope depends on technological advancements, emerging problem domains, and the needs of various industries. While recursive binary search is already a well-established technique, ongoing research and innovation could lead to exciting new applications and optimizations</a:t>
            </a:r>
            <a:r>
              <a:rPr lang="en-US" sz="2000" dirty="0" smtClean="0">
                <a:solidFill>
                  <a:schemeClr val="tx1"/>
                </a:solidFill>
                <a:latin typeface="Times New Roman" pitchFamily="18" charset="0"/>
                <a:cs typeface="Times New Roman" pitchFamily="18" charset="0"/>
              </a:rPr>
              <a:t>.[1]</a:t>
            </a:r>
          </a:p>
          <a:p>
            <a:pPr algn="l"/>
            <a:endParaRPr lang="en-US" sz="1800" dirty="0" smtClean="0">
              <a:solidFill>
                <a:schemeClr val="tx1"/>
              </a:solidFill>
              <a:latin typeface="Times New Roman" pitchFamily="18" charset="0"/>
              <a:cs typeface="Times New Roman" pitchFamily="18" charset="0"/>
            </a:endParaRPr>
          </a:p>
          <a:p>
            <a:pPr algn="l"/>
            <a:endParaRPr lang="en-IN" sz="2400" dirty="0"/>
          </a:p>
        </p:txBody>
      </p:sp>
      <p:sp>
        <p:nvSpPr>
          <p:cNvPr id="4" name="Footer Placeholder 3"/>
          <p:cNvSpPr>
            <a:spLocks noGrp="1"/>
          </p:cNvSpPr>
          <p:nvPr>
            <p:ph type="ftr" sz="quarter" idx="11"/>
          </p:nvPr>
        </p:nvSpPr>
        <p:spPr/>
        <p:txBody>
          <a:bodyPr/>
          <a:lstStyle/>
          <a:p>
            <a:r>
              <a:rPr lang="en-US" smtClean="0"/>
              <a:t>MAULANA  ABUL KALAM AZAD UNIVERSITY OF TECHNOLOGY</a:t>
            </a:r>
            <a:endParaRPr lang="en-US" dirty="0"/>
          </a:p>
        </p:txBody>
      </p:sp>
      <p:sp>
        <p:nvSpPr>
          <p:cNvPr id="5" name="Slide Number Placeholder 4"/>
          <p:cNvSpPr>
            <a:spLocks noGrp="1"/>
          </p:cNvSpPr>
          <p:nvPr>
            <p:ph type="sldNum" sz="quarter" idx="12"/>
          </p:nvPr>
        </p:nvSpPr>
        <p:spPr/>
        <p:txBody>
          <a:bodyPr/>
          <a:lstStyle/>
          <a:p>
            <a:r>
              <a:rPr lang="en-US" smtClean="0"/>
              <a:t>CA-1: BCAD501B</a:t>
            </a:r>
            <a:endParaRPr lang="en-US" dirty="0"/>
          </a:p>
        </p:txBody>
      </p:sp>
    </p:spTree>
    <p:extLst>
      <p:ext uri="{BB962C8B-B14F-4D97-AF65-F5344CB8AC3E}">
        <p14:creationId xmlns:p14="http://schemas.microsoft.com/office/powerpoint/2010/main" val="16401665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MAULANA  ABUL KALAM AZAD UNIVERSITY OF TECHNOLOGY</a:t>
            </a:r>
            <a:endParaRPr lang="en-US" dirty="0"/>
          </a:p>
        </p:txBody>
      </p:sp>
      <p:sp>
        <p:nvSpPr>
          <p:cNvPr id="5" name="Slide Number Placeholder 4"/>
          <p:cNvSpPr>
            <a:spLocks noGrp="1"/>
          </p:cNvSpPr>
          <p:nvPr>
            <p:ph type="sldNum" sz="quarter" idx="12"/>
          </p:nvPr>
        </p:nvSpPr>
        <p:spPr>
          <a:xfrm>
            <a:off x="6781800" y="152400"/>
            <a:ext cx="2209800" cy="365125"/>
          </a:xfrm>
        </p:spPr>
        <p:txBody>
          <a:bodyPr/>
          <a:lstStyle/>
          <a:p>
            <a:r>
              <a:rPr lang="en-US" dirty="0"/>
              <a:t>CA-1: BCAD-501B</a:t>
            </a:r>
          </a:p>
        </p:txBody>
      </p:sp>
      <p:sp>
        <p:nvSpPr>
          <p:cNvPr id="6" name="Title 1"/>
          <p:cNvSpPr>
            <a:spLocks noGrp="1"/>
          </p:cNvSpPr>
          <p:nvPr>
            <p:ph type="ctrTitle"/>
          </p:nvPr>
        </p:nvSpPr>
        <p:spPr>
          <a:xfrm>
            <a:off x="838200" y="1066801"/>
            <a:ext cx="7772400" cy="914400"/>
          </a:xfrm>
        </p:spPr>
        <p:txBody>
          <a:bodyPr/>
          <a:lstStyle/>
          <a:p>
            <a:r>
              <a:rPr lang="en-US" u="sng" dirty="0" smtClean="0">
                <a:solidFill>
                  <a:srgbClr val="002060"/>
                </a:solidFill>
                <a:latin typeface="Copperplate Gothic Bold" pitchFamily="34" charset="0"/>
              </a:rPr>
              <a:t>References</a:t>
            </a:r>
            <a:endParaRPr lang="en-US" u="sng" dirty="0">
              <a:solidFill>
                <a:srgbClr val="002060"/>
              </a:solidFill>
              <a:latin typeface="Copperplate Gothic Bold" pitchFamily="34" charset="0"/>
            </a:endParaRPr>
          </a:p>
        </p:txBody>
      </p:sp>
      <p:sp>
        <p:nvSpPr>
          <p:cNvPr id="8" name="Subtitle 2"/>
          <p:cNvSpPr>
            <a:spLocks noGrp="1"/>
          </p:cNvSpPr>
          <p:nvPr>
            <p:ph type="subTitle" idx="1"/>
          </p:nvPr>
        </p:nvSpPr>
        <p:spPr>
          <a:xfrm>
            <a:off x="609600" y="2057400"/>
            <a:ext cx="8077200" cy="4419600"/>
          </a:xfrm>
        </p:spPr>
        <p:txBody>
          <a:bodyPr/>
          <a:lstStyle/>
          <a:p>
            <a:pPr marL="457200" indent="-457200" algn="l">
              <a:buFont typeface="+mj-lt"/>
              <a:buAutoNum type="arabicPeriod"/>
            </a:pPr>
            <a:r>
              <a:rPr lang="en-US" sz="2400" b="1" dirty="0">
                <a:solidFill>
                  <a:srgbClr val="002060"/>
                </a:solidFill>
                <a:latin typeface="Times New Roman" pitchFamily="18" charset="0"/>
                <a:cs typeface="Times New Roman" pitchFamily="18" charset="0"/>
                <a:hlinkClick r:id="rId2"/>
              </a:rPr>
              <a:t>https://www.techiedelight.com/binary-search</a:t>
            </a:r>
            <a:r>
              <a:rPr lang="en-US" sz="2400" b="1" dirty="0" smtClean="0">
                <a:solidFill>
                  <a:srgbClr val="002060"/>
                </a:solidFill>
                <a:latin typeface="Times New Roman" pitchFamily="18" charset="0"/>
                <a:cs typeface="Times New Roman" pitchFamily="18" charset="0"/>
                <a:hlinkClick r:id="rId2"/>
              </a:rPr>
              <a:t>/</a:t>
            </a:r>
            <a:endParaRPr lang="en-US" sz="2400" b="1" dirty="0" smtClean="0">
              <a:solidFill>
                <a:srgbClr val="002060"/>
              </a:solidFill>
              <a:latin typeface="Times New Roman" pitchFamily="18" charset="0"/>
              <a:cs typeface="Times New Roman" pitchFamily="18" charset="0"/>
            </a:endParaRPr>
          </a:p>
          <a:p>
            <a:pPr marL="457200" indent="-457200" algn="l">
              <a:buFont typeface="+mj-lt"/>
              <a:buAutoNum type="arabicPeriod"/>
            </a:pPr>
            <a:r>
              <a:rPr lang="en-US" sz="2400" b="1" dirty="0">
                <a:solidFill>
                  <a:srgbClr val="002060"/>
                </a:solidFill>
                <a:latin typeface="Times New Roman" pitchFamily="18" charset="0"/>
                <a:cs typeface="Times New Roman" pitchFamily="18" charset="0"/>
                <a:hlinkClick r:id="rId3"/>
              </a:rPr>
              <a:t>https://www.chegg.com/homework-help/definitions/recursive-binary-search-3#:~:text=Recursive%20binary%20search%20is%20an,within%20a%20single%20method%20call</a:t>
            </a:r>
            <a:r>
              <a:rPr lang="en-US" sz="2400" b="1" dirty="0" smtClean="0">
                <a:solidFill>
                  <a:srgbClr val="002060"/>
                </a:solidFill>
                <a:latin typeface="Times New Roman" pitchFamily="18" charset="0"/>
                <a:cs typeface="Times New Roman" pitchFamily="18" charset="0"/>
              </a:rPr>
              <a:t>).</a:t>
            </a:r>
          </a:p>
          <a:p>
            <a:pPr marL="457200" indent="-457200" algn="l">
              <a:buFont typeface="+mj-lt"/>
              <a:buAutoNum type="arabicPeriod"/>
            </a:pPr>
            <a:endParaRPr lang="en-US" sz="2400" b="1" dirty="0" smtClean="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000" u="sng" dirty="0" smtClean="0">
                <a:solidFill>
                  <a:schemeClr val="tx2"/>
                </a:solidFill>
                <a:effectLst>
                  <a:outerShdw blurRad="38100" dist="38100" dir="2700000" algn="tl">
                    <a:srgbClr val="000000">
                      <a:alpha val="43137"/>
                    </a:srgbClr>
                  </a:outerShdw>
                </a:effectLst>
                <a:latin typeface="Copperplate Gothic Bold" pitchFamily="34" charset="0"/>
              </a:rPr>
              <a:t>THANK YOU</a:t>
            </a:r>
            <a:endParaRPr lang="en-IN" sz="6000" u="sng" dirty="0">
              <a:solidFill>
                <a:schemeClr val="tx2"/>
              </a:solidFill>
              <a:effectLst>
                <a:outerShdw blurRad="38100" dist="38100" dir="2700000" algn="tl">
                  <a:srgbClr val="000000">
                    <a:alpha val="43137"/>
                  </a:srgbClr>
                </a:outerShdw>
              </a:effectLst>
              <a:latin typeface="Copperplate Gothic Bold" pitchFamily="34" charset="0"/>
            </a:endParaRPr>
          </a:p>
        </p:txBody>
      </p:sp>
      <p:sp>
        <p:nvSpPr>
          <p:cNvPr id="4" name="Footer Placeholder 3"/>
          <p:cNvSpPr>
            <a:spLocks noGrp="1"/>
          </p:cNvSpPr>
          <p:nvPr>
            <p:ph type="ftr" sz="quarter" idx="11"/>
          </p:nvPr>
        </p:nvSpPr>
        <p:spPr/>
        <p:txBody>
          <a:bodyPr/>
          <a:lstStyle/>
          <a:p>
            <a:r>
              <a:rPr lang="en-US" smtClean="0"/>
              <a:t>MAULANA  ABUL KALAM AZAD UNIVERSITY OF TECHNOLOGY</a:t>
            </a:r>
            <a:endParaRPr lang="en-US" dirty="0"/>
          </a:p>
        </p:txBody>
      </p:sp>
      <p:sp>
        <p:nvSpPr>
          <p:cNvPr id="5" name="Slide Number Placeholder 4"/>
          <p:cNvSpPr>
            <a:spLocks noGrp="1"/>
          </p:cNvSpPr>
          <p:nvPr>
            <p:ph type="sldNum" sz="quarter" idx="12"/>
          </p:nvPr>
        </p:nvSpPr>
        <p:spPr/>
        <p:txBody>
          <a:bodyPr/>
          <a:lstStyle/>
          <a:p>
            <a:r>
              <a:rPr lang="en-US" smtClean="0"/>
              <a:t>CA-1: BCAD501B</a:t>
            </a:r>
            <a:endParaRPr lang="en-US" dirty="0"/>
          </a:p>
        </p:txBody>
      </p:sp>
    </p:spTree>
    <p:extLst>
      <p:ext uri="{BB962C8B-B14F-4D97-AF65-F5344CB8AC3E}">
        <p14:creationId xmlns:p14="http://schemas.microsoft.com/office/powerpoint/2010/main" val="6467786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TotalTime>
  <Words>411</Words>
  <Application>Microsoft Office PowerPoint</Application>
  <PresentationFormat>On-screen Show (4:3)</PresentationFormat>
  <Paragraphs>77</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RECURSIVE BINARY SEARCH: ALGORITHM, EXAMPLE &amp; TIME COMPLEXITY ANALYSIS</vt:lpstr>
      <vt:lpstr>INTRODUCTION</vt:lpstr>
      <vt:lpstr>THE ALGORITHM</vt:lpstr>
      <vt:lpstr>EXAMPLE OF  RECURSIVE BINARY SEARCH</vt:lpstr>
      <vt:lpstr>TIME COMPLEXITY ANALYSIS</vt:lpstr>
      <vt:lpstr> Advantages of  recursive binary search</vt:lpstr>
      <vt:lpstr> DISADVANTAGES OF  RECURSIVE BINARY SEARCH</vt:lpstr>
      <vt:lpstr>CONCLUSION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Arnab</dc:creator>
  <cp:lastModifiedBy>DELL</cp:lastModifiedBy>
  <cp:revision>62</cp:revision>
  <dcterms:created xsi:type="dcterms:W3CDTF">2022-07-30T14:05:44Z</dcterms:created>
  <dcterms:modified xsi:type="dcterms:W3CDTF">2023-08-09T17:57:45Z</dcterms:modified>
</cp:coreProperties>
</file>